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78" r:id="rId5"/>
    <p:sldId id="287" r:id="rId6"/>
    <p:sldId id="256" r:id="rId7"/>
    <p:sldId id="279" r:id="rId8"/>
    <p:sldId id="284" r:id="rId9"/>
    <p:sldId id="280" r:id="rId10"/>
    <p:sldId id="292" r:id="rId11"/>
    <p:sldId id="257" r:id="rId12"/>
    <p:sldId id="276" r:id="rId13"/>
    <p:sldId id="285" r:id="rId14"/>
    <p:sldId id="277" r:id="rId15"/>
    <p:sldId id="283" r:id="rId16"/>
    <p:sldId id="282" r:id="rId17"/>
    <p:sldId id="286" r:id="rId18"/>
    <p:sldId id="293" r:id="rId19"/>
    <p:sldId id="291" r:id="rId20"/>
    <p:sldId id="295" r:id="rId21"/>
    <p:sldId id="296" r:id="rId22"/>
    <p:sldId id="297" r:id="rId23"/>
    <p:sldId id="298" r:id="rId24"/>
    <p:sldId id="29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F84B58-5AC4-3071-C788-72AF16F1FC9B}" v="322" dt="2026-05-29T20:41:49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Chilakapati" userId="S::vijay.chilakapati@astraanalytical.com::50c5210b-274e-4c58-a72b-4843f9592b9a" providerId="AD" clId="Web-{A9D98A85-2C0A-A9A5-27B1-8018D6F4D4F6}"/>
    <pc:docChg chg="modSld">
      <pc:chgData name="Vijay Chilakapati" userId="S::vijay.chilakapati@astraanalytical.com::50c5210b-274e-4c58-a72b-4843f9592b9a" providerId="AD" clId="Web-{A9D98A85-2C0A-A9A5-27B1-8018D6F4D4F6}" dt="2026-05-26T12:59:21.214" v="13" actId="20577"/>
      <pc:docMkLst>
        <pc:docMk/>
      </pc:docMkLst>
      <pc:sldChg chg="modSp">
        <pc:chgData name="Vijay Chilakapati" userId="S::vijay.chilakapati@astraanalytical.com::50c5210b-274e-4c58-a72b-4843f9592b9a" providerId="AD" clId="Web-{A9D98A85-2C0A-A9A5-27B1-8018D6F4D4F6}" dt="2026-05-26T12:59:21.214" v="13" actId="20577"/>
        <pc:sldMkLst>
          <pc:docMk/>
          <pc:sldMk cId="2501199751" sldId="277"/>
        </pc:sldMkLst>
        <pc:spChg chg="mod">
          <ac:chgData name="Vijay Chilakapati" userId="S::vijay.chilakapati@astraanalytical.com::50c5210b-274e-4c58-a72b-4843f9592b9a" providerId="AD" clId="Web-{A9D98A85-2C0A-A9A5-27B1-8018D6F4D4F6}" dt="2026-05-26T12:59:21.214" v="13" actId="20577"/>
          <ac:spMkLst>
            <pc:docMk/>
            <pc:sldMk cId="2501199751" sldId="277"/>
            <ac:spMk id="141" creationId="{00000000-0000-0000-0000-000000000000}"/>
          </ac:spMkLst>
        </pc:spChg>
      </pc:sldChg>
    </pc:docChg>
  </pc:docChgLst>
  <pc:docChgLst>
    <pc:chgData name="Vijay Chilakapati" userId="S::vijay.chilakapati@astraanalytical.com::50c5210b-274e-4c58-a72b-4843f9592b9a" providerId="AD" clId="Web-{34196A24-5CAD-EF3D-3AE5-5AC3C3DC6AC4}"/>
    <pc:docChg chg="modSld">
      <pc:chgData name="Vijay Chilakapati" userId="S::vijay.chilakapati@astraanalytical.com::50c5210b-274e-4c58-a72b-4843f9592b9a" providerId="AD" clId="Web-{34196A24-5CAD-EF3D-3AE5-5AC3C3DC6AC4}" dt="2026-05-23T11:05:47.903" v="188" actId="20577"/>
      <pc:docMkLst>
        <pc:docMk/>
      </pc:docMkLst>
      <pc:sldChg chg="modSp">
        <pc:chgData name="Vijay Chilakapati" userId="S::vijay.chilakapati@astraanalytical.com::50c5210b-274e-4c58-a72b-4843f9592b9a" providerId="AD" clId="Web-{34196A24-5CAD-EF3D-3AE5-5AC3C3DC6AC4}" dt="2026-05-22T10:43:09.036" v="30" actId="20577"/>
        <pc:sldMkLst>
          <pc:docMk/>
          <pc:sldMk cId="0" sldId="278"/>
        </pc:sldMkLst>
        <pc:spChg chg="mod">
          <ac:chgData name="Vijay Chilakapati" userId="S::vijay.chilakapati@astraanalytical.com::50c5210b-274e-4c58-a72b-4843f9592b9a" providerId="AD" clId="Web-{34196A24-5CAD-EF3D-3AE5-5AC3C3DC6AC4}" dt="2026-05-22T10:43:09.036" v="30" actId="20577"/>
          <ac:spMkLst>
            <pc:docMk/>
            <pc:sldMk cId="0" sldId="278"/>
            <ac:spMk id="8" creationId="{00000000-0000-0000-0000-000000000000}"/>
          </ac:spMkLst>
        </pc:spChg>
      </pc:sldChg>
      <pc:sldChg chg="modSp">
        <pc:chgData name="Vijay Chilakapati" userId="S::vijay.chilakapati@astraanalytical.com::50c5210b-274e-4c58-a72b-4843f9592b9a" providerId="AD" clId="Web-{34196A24-5CAD-EF3D-3AE5-5AC3C3DC6AC4}" dt="2026-05-23T11:05:47.903" v="188" actId="20577"/>
        <pc:sldMkLst>
          <pc:docMk/>
          <pc:sldMk cId="704494892" sldId="295"/>
        </pc:sldMkLst>
        <pc:spChg chg="mod">
          <ac:chgData name="Vijay Chilakapati" userId="S::vijay.chilakapati@astraanalytical.com::50c5210b-274e-4c58-a72b-4843f9592b9a" providerId="AD" clId="Web-{34196A24-5CAD-EF3D-3AE5-5AC3C3DC6AC4}" dt="2026-05-22T02:21:03.554" v="9" actId="20577"/>
          <ac:spMkLst>
            <pc:docMk/>
            <pc:sldMk cId="704494892" sldId="295"/>
            <ac:spMk id="3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34196A24-5CAD-EF3D-3AE5-5AC3C3DC6AC4}" dt="2026-05-22T10:42:46.785" v="27" actId="20577"/>
          <ac:spMkLst>
            <pc:docMk/>
            <pc:sldMk cId="704494892" sldId="295"/>
            <ac:spMk id="5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34196A24-5CAD-EF3D-3AE5-5AC3C3DC6AC4}" dt="2026-05-23T10:58:36.439" v="127" actId="20577"/>
          <ac:spMkLst>
            <pc:docMk/>
            <pc:sldMk cId="704494892" sldId="295"/>
            <ac:spMk id="9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34196A24-5CAD-EF3D-3AE5-5AC3C3DC6AC4}" dt="2026-05-23T11:05:47.903" v="188" actId="20577"/>
          <ac:spMkLst>
            <pc:docMk/>
            <pc:sldMk cId="704494892" sldId="295"/>
            <ac:spMk id="42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34196A24-5CAD-EF3D-3AE5-5AC3C3DC6AC4}" dt="2026-05-23T11:03:09.352" v="157" actId="20577"/>
          <ac:spMkLst>
            <pc:docMk/>
            <pc:sldMk cId="704494892" sldId="295"/>
            <ac:spMk id="51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34196A24-5CAD-EF3D-3AE5-5AC3C3DC6AC4}" dt="2026-05-23T11:03:37.212" v="169" actId="20577"/>
          <ac:spMkLst>
            <pc:docMk/>
            <pc:sldMk cId="704494892" sldId="295"/>
            <ac:spMk id="53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34196A24-5CAD-EF3D-3AE5-5AC3C3DC6AC4}" dt="2026-05-23T11:05:11.683" v="179" actId="20577"/>
          <ac:spMkLst>
            <pc:docMk/>
            <pc:sldMk cId="704494892" sldId="295"/>
            <ac:spMk id="55" creationId="{00000000-0000-0000-0000-000000000000}"/>
          </ac:spMkLst>
        </pc:spChg>
      </pc:sldChg>
      <pc:sldChg chg="modSp">
        <pc:chgData name="Vijay Chilakapati" userId="S::vijay.chilakapati@astraanalytical.com::50c5210b-274e-4c58-a72b-4843f9592b9a" providerId="AD" clId="Web-{34196A24-5CAD-EF3D-3AE5-5AC3C3DC6AC4}" dt="2026-05-22T10:39:03.198" v="10" actId="20577"/>
        <pc:sldMkLst>
          <pc:docMk/>
          <pc:sldMk cId="1432818885" sldId="299"/>
        </pc:sldMkLst>
        <pc:spChg chg="mod">
          <ac:chgData name="Vijay Chilakapati" userId="S::vijay.chilakapati@astraanalytical.com::50c5210b-274e-4c58-a72b-4843f9592b9a" providerId="AD" clId="Web-{34196A24-5CAD-EF3D-3AE5-5AC3C3DC6AC4}" dt="2026-05-22T10:39:03.198" v="10" actId="20577"/>
          <ac:spMkLst>
            <pc:docMk/>
            <pc:sldMk cId="1432818885" sldId="299"/>
            <ac:spMk id="39" creationId="{00000000-0000-0000-0000-000000000000}"/>
          </ac:spMkLst>
        </pc:spChg>
      </pc:sldChg>
    </pc:docChg>
  </pc:docChgLst>
  <pc:docChgLst>
    <pc:chgData name="Vijay Chilakapati" userId="S::vijay.chilakapati@astraanalytical.com::50c5210b-274e-4c58-a72b-4843f9592b9a" providerId="AD" clId="Web-{0673EA1F-18FF-E0D0-5A4B-51562C642B1E}"/>
    <pc:docChg chg="modSld">
      <pc:chgData name="Vijay Chilakapati" userId="S::vijay.chilakapati@astraanalytical.com::50c5210b-274e-4c58-a72b-4843f9592b9a" providerId="AD" clId="Web-{0673EA1F-18FF-E0D0-5A4B-51562C642B1E}" dt="2026-05-27T15:07:55.288" v="0" actId="20577"/>
      <pc:docMkLst>
        <pc:docMk/>
      </pc:docMkLst>
      <pc:sldChg chg="modSp">
        <pc:chgData name="Vijay Chilakapati" userId="S::vijay.chilakapati@astraanalytical.com::50c5210b-274e-4c58-a72b-4843f9592b9a" providerId="AD" clId="Web-{0673EA1F-18FF-E0D0-5A4B-51562C642B1E}" dt="2026-05-27T15:07:55.288" v="0" actId="20577"/>
        <pc:sldMkLst>
          <pc:docMk/>
          <pc:sldMk cId="2413300185" sldId="292"/>
        </pc:sldMkLst>
        <pc:spChg chg="mod">
          <ac:chgData name="Vijay Chilakapati" userId="S::vijay.chilakapati@astraanalytical.com::50c5210b-274e-4c58-a72b-4843f9592b9a" providerId="AD" clId="Web-{0673EA1F-18FF-E0D0-5A4B-51562C642B1E}" dt="2026-05-27T15:07:55.288" v="0" actId="20577"/>
          <ac:spMkLst>
            <pc:docMk/>
            <pc:sldMk cId="2413300185" sldId="292"/>
            <ac:spMk id="33" creationId="{00000000-0000-0000-0000-000000000000}"/>
          </ac:spMkLst>
        </pc:spChg>
      </pc:sldChg>
    </pc:docChg>
  </pc:docChgLst>
  <pc:docChgLst>
    <pc:chgData name="Vijay Chilakapati" userId="S::vijay.chilakapati@astraanalytical.com::50c5210b-274e-4c58-a72b-4843f9592b9a" providerId="AD" clId="Web-{D8F84B58-5AC4-3071-C788-72AF16F1FC9B}"/>
    <pc:docChg chg="modSld">
      <pc:chgData name="Vijay Chilakapati" userId="S::vijay.chilakapati@astraanalytical.com::50c5210b-274e-4c58-a72b-4843f9592b9a" providerId="AD" clId="Web-{D8F84B58-5AC4-3071-C788-72AF16F1FC9B}" dt="2026-05-29T20:41:49.848" v="320" actId="20577"/>
      <pc:docMkLst>
        <pc:docMk/>
      </pc:docMkLst>
      <pc:sldChg chg="addSp delSp modSp">
        <pc:chgData name="Vijay Chilakapati" userId="S::vijay.chilakapati@astraanalytical.com::50c5210b-274e-4c58-a72b-4843f9592b9a" providerId="AD" clId="Web-{D8F84B58-5AC4-3071-C788-72AF16F1FC9B}" dt="2026-05-29T20:41:49.848" v="320" actId="20577"/>
        <pc:sldMkLst>
          <pc:docMk/>
          <pc:sldMk cId="1094285986" sldId="298"/>
        </pc:sldMkLst>
        <pc:spChg chg="mod">
          <ac:chgData name="Vijay Chilakapati" userId="S::vijay.chilakapati@astraanalytical.com::50c5210b-274e-4c58-a72b-4843f9592b9a" providerId="AD" clId="Web-{D8F84B58-5AC4-3071-C788-72AF16F1FC9B}" dt="2026-05-29T14:20:13.125" v="152" actId="1076"/>
          <ac:spMkLst>
            <pc:docMk/>
            <pc:sldMk cId="1094285986" sldId="298"/>
            <ac:spMk id="6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156" v="153" actId="1076"/>
          <ac:spMkLst>
            <pc:docMk/>
            <pc:sldMk cId="1094285986" sldId="298"/>
            <ac:spMk id="7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187" v="154" actId="1076"/>
          <ac:spMkLst>
            <pc:docMk/>
            <pc:sldMk cId="1094285986" sldId="298"/>
            <ac:spMk id="8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203" v="155" actId="1076"/>
          <ac:spMkLst>
            <pc:docMk/>
            <pc:sldMk cId="1094285986" sldId="298"/>
            <ac:spMk id="9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5:01:22.059" v="253" actId="20577"/>
          <ac:spMkLst>
            <pc:docMk/>
            <pc:sldMk cId="1094285986" sldId="298"/>
            <ac:spMk id="10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266" v="157" actId="1076"/>
          <ac:spMkLst>
            <pc:docMk/>
            <pc:sldMk cId="1094285986" sldId="298"/>
            <ac:spMk id="11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297" v="158" actId="1076"/>
          <ac:spMkLst>
            <pc:docMk/>
            <pc:sldMk cId="1094285986" sldId="298"/>
            <ac:spMk id="12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312" v="159" actId="1076"/>
          <ac:spMkLst>
            <pc:docMk/>
            <pc:sldMk cId="1094285986" sldId="298"/>
            <ac:spMk id="13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344" v="160" actId="1076"/>
          <ac:spMkLst>
            <pc:docMk/>
            <pc:sldMk cId="1094285986" sldId="298"/>
            <ac:spMk id="14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359" v="161" actId="1076"/>
          <ac:spMkLst>
            <pc:docMk/>
            <pc:sldMk cId="1094285986" sldId="298"/>
            <ac:spMk id="15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391" v="162" actId="1076"/>
          <ac:spMkLst>
            <pc:docMk/>
            <pc:sldMk cId="1094285986" sldId="298"/>
            <ac:spMk id="16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453" v="164" actId="1076"/>
          <ac:spMkLst>
            <pc:docMk/>
            <pc:sldMk cId="1094285986" sldId="298"/>
            <ac:spMk id="18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500" v="166" actId="1076"/>
          <ac:spMkLst>
            <pc:docMk/>
            <pc:sldMk cId="1094285986" sldId="298"/>
            <ac:spMk id="20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578" v="168" actId="1076"/>
          <ac:spMkLst>
            <pc:docMk/>
            <pc:sldMk cId="1094285986" sldId="298"/>
            <ac:spMk id="22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641" v="170" actId="1076"/>
          <ac:spMkLst>
            <pc:docMk/>
            <pc:sldMk cId="1094285986" sldId="298"/>
            <ac:spMk id="24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703" v="172" actId="1076"/>
          <ac:spMkLst>
            <pc:docMk/>
            <pc:sldMk cId="1094285986" sldId="298"/>
            <ac:spMk id="26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734" v="173" actId="1076"/>
          <ac:spMkLst>
            <pc:docMk/>
            <pc:sldMk cId="1094285986" sldId="298"/>
            <ac:spMk id="27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766" v="174" actId="1076"/>
          <ac:spMkLst>
            <pc:docMk/>
            <pc:sldMk cId="1094285986" sldId="298"/>
            <ac:spMk id="28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797" v="175" actId="1076"/>
          <ac:spMkLst>
            <pc:docMk/>
            <pc:sldMk cId="1094285986" sldId="298"/>
            <ac:spMk id="29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828" v="176" actId="1076"/>
          <ac:spMkLst>
            <pc:docMk/>
            <pc:sldMk cId="1094285986" sldId="298"/>
            <ac:spMk id="30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859" v="177" actId="1076"/>
          <ac:spMkLst>
            <pc:docMk/>
            <pc:sldMk cId="1094285986" sldId="298"/>
            <ac:spMk id="31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891" v="178" actId="1076"/>
          <ac:spMkLst>
            <pc:docMk/>
            <pc:sldMk cId="1094285986" sldId="298"/>
            <ac:spMk id="32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922" v="179" actId="1076"/>
          <ac:spMkLst>
            <pc:docMk/>
            <pc:sldMk cId="1094285986" sldId="298"/>
            <ac:spMk id="33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953" v="180" actId="1076"/>
          <ac:spMkLst>
            <pc:docMk/>
            <pc:sldMk cId="1094285986" sldId="298"/>
            <ac:spMk id="40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20:13.984" v="181" actId="1076"/>
          <ac:spMkLst>
            <pc:docMk/>
            <pc:sldMk cId="1094285986" sldId="298"/>
            <ac:spMk id="41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5:02:49.687" v="291" actId="20577"/>
          <ac:spMkLst>
            <pc:docMk/>
            <pc:sldMk cId="1094285986" sldId="298"/>
            <ac:spMk id="42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20:41:49.848" v="320" actId="20577"/>
          <ac:spMkLst>
            <pc:docMk/>
            <pc:sldMk cId="1094285986" sldId="298"/>
            <ac:spMk id="53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59:52.290" v="232" actId="20577"/>
          <ac:spMkLst>
            <pc:docMk/>
            <pc:sldMk cId="1094285986" sldId="298"/>
            <ac:spMk id="66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12:36.050" v="3" actId="20577"/>
          <ac:spMkLst>
            <pc:docMk/>
            <pc:sldMk cId="1094285986" sldId="298"/>
            <ac:spMk id="77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4:12:50.941" v="6" actId="20577"/>
          <ac:spMkLst>
            <pc:docMk/>
            <pc:sldMk cId="1094285986" sldId="298"/>
            <ac:spMk id="79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5:03:58.518" v="308" actId="20577"/>
          <ac:spMkLst>
            <pc:docMk/>
            <pc:sldMk cId="1094285986" sldId="298"/>
            <ac:spMk id="101" creationId="{00000000-0000-0000-0000-000000000000}"/>
          </ac:spMkLst>
        </pc:spChg>
        <pc:spChg chg="mod">
          <ac:chgData name="Vijay Chilakapati" userId="S::vijay.chilakapati@astraanalytical.com::50c5210b-274e-4c58-a72b-4843f9592b9a" providerId="AD" clId="Web-{D8F84B58-5AC4-3071-C788-72AF16F1FC9B}" dt="2026-05-29T15:04:19.972" v="315" actId="20577"/>
          <ac:spMkLst>
            <pc:docMk/>
            <pc:sldMk cId="1094285986" sldId="298"/>
            <ac:spMk id="106" creationId="{00000000-0000-0000-0000-000000000000}"/>
          </ac:spMkLst>
        </pc:spChg>
        <pc:spChg chg="add mod">
          <ac:chgData name="Vijay Chilakapati" userId="S::vijay.chilakapati@astraanalytical.com::50c5210b-274e-4c58-a72b-4843f9592b9a" providerId="AD" clId="Web-{D8F84B58-5AC4-3071-C788-72AF16F1FC9B}" dt="2026-05-29T14:20:24.391" v="184" actId="14100"/>
          <ac:spMkLst>
            <pc:docMk/>
            <pc:sldMk cId="1094285986" sldId="298"/>
            <ac:spMk id="107" creationId="{BCD5E9D3-CC82-20C7-0EAC-8BFE9BA7F541}"/>
          </ac:spMkLst>
        </pc:spChg>
        <pc:spChg chg="add del mod">
          <ac:chgData name="Vijay Chilakapati" userId="S::vijay.chilakapati@astraanalytical.com::50c5210b-274e-4c58-a72b-4843f9592b9a" providerId="AD" clId="Web-{D8F84B58-5AC4-3071-C788-72AF16F1FC9B}" dt="2026-05-29T14:19:48.656" v="151"/>
          <ac:spMkLst>
            <pc:docMk/>
            <pc:sldMk cId="1094285986" sldId="298"/>
            <ac:spMk id="108" creationId="{03A0C5FD-5F3C-3219-A827-7897FD751C83}"/>
          </ac:spMkLst>
        </pc:spChg>
        <pc:spChg chg="add mod">
          <ac:chgData name="Vijay Chilakapati" userId="S::vijay.chilakapati@astraanalytical.com::50c5210b-274e-4c58-a72b-4843f9592b9a" providerId="AD" clId="Web-{D8F84B58-5AC4-3071-C788-72AF16F1FC9B}" dt="2026-05-29T14:20:36.063" v="185" actId="1076"/>
          <ac:spMkLst>
            <pc:docMk/>
            <pc:sldMk cId="1094285986" sldId="298"/>
            <ac:spMk id="109" creationId="{BFCFA155-7F98-FD0D-CFB2-36BC98C1F7F9}"/>
          </ac:spMkLst>
        </pc:spChg>
        <pc:spChg chg="add mod">
          <ac:chgData name="Vijay Chilakapati" userId="S::vijay.chilakapati@astraanalytical.com::50c5210b-274e-4c58-a72b-4843f9592b9a" providerId="AD" clId="Web-{D8F84B58-5AC4-3071-C788-72AF16F1FC9B}" dt="2026-05-29T14:20:46.595" v="188" actId="1076"/>
          <ac:spMkLst>
            <pc:docMk/>
            <pc:sldMk cId="1094285986" sldId="298"/>
            <ac:spMk id="110" creationId="{42D3B6A7-A3E6-82AF-6768-416D38408805}"/>
          </ac:spMkLst>
        </pc:spChg>
        <pc:spChg chg="add mod">
          <ac:chgData name="Vijay Chilakapati" userId="S::vijay.chilakapati@astraanalytical.com::50c5210b-274e-4c58-a72b-4843f9592b9a" providerId="AD" clId="Web-{D8F84B58-5AC4-3071-C788-72AF16F1FC9B}" dt="2026-05-29T14:20:56.329" v="189" actId="20577"/>
          <ac:spMkLst>
            <pc:docMk/>
            <pc:sldMk cId="1094285986" sldId="298"/>
            <ac:spMk id="111" creationId="{29845A6D-B104-A5D7-360F-87663A033955}"/>
          </ac:spMkLst>
        </pc:spChg>
        <pc:picChg chg="mod">
          <ac:chgData name="Vijay Chilakapati" userId="S::vijay.chilakapati@astraanalytical.com::50c5210b-274e-4c58-a72b-4843f9592b9a" providerId="AD" clId="Web-{D8F84B58-5AC4-3071-C788-72AF16F1FC9B}" dt="2026-05-29T14:20:13.422" v="163" actId="1076"/>
          <ac:picMkLst>
            <pc:docMk/>
            <pc:sldMk cId="1094285986" sldId="298"/>
            <ac:picMk id="17" creationId="{00000000-0000-0000-0000-000000000000}"/>
          </ac:picMkLst>
        </pc:picChg>
        <pc:picChg chg="mod">
          <ac:chgData name="Vijay Chilakapati" userId="S::vijay.chilakapati@astraanalytical.com::50c5210b-274e-4c58-a72b-4843f9592b9a" providerId="AD" clId="Web-{D8F84B58-5AC4-3071-C788-72AF16F1FC9B}" dt="2026-05-29T14:20:13.484" v="165" actId="1076"/>
          <ac:picMkLst>
            <pc:docMk/>
            <pc:sldMk cId="1094285986" sldId="298"/>
            <ac:picMk id="19" creationId="{00000000-0000-0000-0000-000000000000}"/>
          </ac:picMkLst>
        </pc:picChg>
        <pc:picChg chg="mod">
          <ac:chgData name="Vijay Chilakapati" userId="S::vijay.chilakapati@astraanalytical.com::50c5210b-274e-4c58-a72b-4843f9592b9a" providerId="AD" clId="Web-{D8F84B58-5AC4-3071-C788-72AF16F1FC9B}" dt="2026-05-29T14:20:13.531" v="167" actId="1076"/>
          <ac:picMkLst>
            <pc:docMk/>
            <pc:sldMk cId="1094285986" sldId="298"/>
            <ac:picMk id="21" creationId="{00000000-0000-0000-0000-000000000000}"/>
          </ac:picMkLst>
        </pc:picChg>
        <pc:picChg chg="mod">
          <ac:chgData name="Vijay Chilakapati" userId="S::vijay.chilakapati@astraanalytical.com::50c5210b-274e-4c58-a72b-4843f9592b9a" providerId="AD" clId="Web-{D8F84B58-5AC4-3071-C788-72AF16F1FC9B}" dt="2026-05-29T14:20:13.609" v="169" actId="1076"/>
          <ac:picMkLst>
            <pc:docMk/>
            <pc:sldMk cId="1094285986" sldId="298"/>
            <ac:picMk id="23" creationId="{00000000-0000-0000-0000-000000000000}"/>
          </ac:picMkLst>
        </pc:picChg>
        <pc:picChg chg="mod">
          <ac:chgData name="Vijay Chilakapati" userId="S::vijay.chilakapati@astraanalytical.com::50c5210b-274e-4c58-a72b-4843f9592b9a" providerId="AD" clId="Web-{D8F84B58-5AC4-3071-C788-72AF16F1FC9B}" dt="2026-05-29T14:20:13.672" v="171" actId="1076"/>
          <ac:picMkLst>
            <pc:docMk/>
            <pc:sldMk cId="1094285986" sldId="298"/>
            <ac:picMk id="2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2D55F-1B84-4314-B5A9-9D195B8B5EED}" type="datetimeFigureOut"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C995F-1443-4210-BA95-598BA4A440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5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0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12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1A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astraX</a:t>
            </a:r>
            <a:endParaRPr lang="en-US" sz="140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4572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ROUND  ·  CONSOLIDATED OVERVIEW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astraX-HX1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B6D8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Handheld XRF analyzer  ·  Hardware wedge, agent fleet moat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57200" y="4480560"/>
            <a:ext cx="8229600" cy="7315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B6D8E0"/>
                </a:solidFill>
                <a:latin typeface="Calibri"/>
                <a:ea typeface="Calibri"/>
                <a:cs typeface="Calibri"/>
              </a:rPr>
              <a:t>Astra Analytical Corp. (AAC)   ·   Vijay Chilakapati   ·   May 2026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i="1">
                <a:solidFill>
                  <a:srgbClr val="B6D8E0"/>
                </a:solidFill>
                <a:latin typeface="Calibri"/>
              </a:rPr>
              <a:t>Astra Business System  ·  India Beachhead  ·  World 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 — where we are, what's next, why we win, the numbers, how we operate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548640"/>
          </a:xfrm>
          <a:prstGeom prst="rect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SLIDES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31008" cy="1417320"/>
          </a:xfrm>
          <a:prstGeom prst="rect">
            <a:avLst/>
          </a:prstGeom>
          <a:solidFill>
            <a:srgbClr val="F7F8F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1417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35024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298448"/>
            <a:ext cx="1953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0352" y="1766316"/>
            <a:ext cx="502920" cy="201168"/>
          </a:xfrm>
          <a:prstGeom prst="rect">
            <a:avLst/>
          </a:prstGeom>
          <a:solidFill>
            <a:srgbClr val="E4F2F1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663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7280" y="1737360"/>
            <a:ext cx="19537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timeline · current status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2025396"/>
            <a:ext cx="502920" cy="201168"/>
          </a:xfrm>
          <a:prstGeom prst="rect">
            <a:avLst/>
          </a:prstGeom>
          <a:solidFill>
            <a:srgbClr val="E4F2F1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0253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" y="1996440"/>
            <a:ext cx="19537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schedule to PB1.0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2284476"/>
            <a:ext cx="502920" cy="201168"/>
          </a:xfrm>
          <a:prstGeom prst="rect">
            <a:avLst/>
          </a:prstGeom>
          <a:solidFill>
            <a:srgbClr val="E4F2F1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844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" y="2255520"/>
            <a:ext cx="19537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· dependency 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6496" y="1188720"/>
            <a:ext cx="2731008" cy="1417320"/>
          </a:xfrm>
          <a:prstGeom prst="rect">
            <a:avLst/>
          </a:prstGeom>
          <a:solidFill>
            <a:srgbClr val="F7F8FB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6496" y="1188720"/>
            <a:ext cx="73152" cy="1417320"/>
          </a:xfrm>
          <a:prstGeom prst="rect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9376" y="1335024"/>
            <a:ext cx="457200" cy="45720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9376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8016" y="1298448"/>
            <a:ext cx="1953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371088" y="1766316"/>
            <a:ext cx="502920" cy="201168"/>
          </a:xfrm>
          <a:prstGeom prst="rect">
            <a:avLst/>
          </a:prstGeom>
          <a:solidFill>
            <a:srgbClr val="DDECEB"/>
          </a:solidFill>
          <a:ln w="6350">
            <a:solidFill>
              <a:srgbClr val="1B5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1088" y="17663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38016" y="1737360"/>
            <a:ext cx="19537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to PB1.0 — next steps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71088" y="2025396"/>
            <a:ext cx="502920" cy="201168"/>
          </a:xfrm>
          <a:prstGeom prst="rect">
            <a:avLst/>
          </a:prstGeom>
          <a:solidFill>
            <a:srgbClr val="DDECEB"/>
          </a:solidFill>
          <a:ln w="6350">
            <a:solidFill>
              <a:srgbClr val="1B5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1088" y="20253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38016" y="1996440"/>
            <a:ext cx="19537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technical risks to PB1.0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71088" y="2284476"/>
            <a:ext cx="502920" cy="201168"/>
          </a:xfrm>
          <a:prstGeom prst="rect">
            <a:avLst/>
          </a:prstGeom>
          <a:solidFill>
            <a:srgbClr val="DDECEB"/>
          </a:solidFill>
          <a:ln w="6350">
            <a:solidFill>
              <a:srgbClr val="1B5E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1088" y="22844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38016" y="2255520"/>
            <a:ext cx="195376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risk retirement 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47232" y="1188720"/>
            <a:ext cx="2731008" cy="1417320"/>
          </a:xfrm>
          <a:prstGeom prst="rect">
            <a:avLst/>
          </a:prstGeom>
          <a:solidFill>
            <a:srgbClr val="F7F8FB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7232" y="1188720"/>
            <a:ext cx="73152" cy="1417320"/>
          </a:xfrm>
          <a:prstGeom prst="rect">
            <a:avLst/>
          </a:prstGeom>
          <a:solidFill>
            <a:srgbClr val="C2563C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0112" y="1335024"/>
            <a:ext cx="457200" cy="457200"/>
          </a:xfrm>
          <a:prstGeom prst="ellipse">
            <a:avLst/>
          </a:prstGeom>
          <a:solidFill>
            <a:srgbClr val="C2563C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0112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78752" y="1298448"/>
            <a:ext cx="1953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11824" y="1831086"/>
            <a:ext cx="502920" cy="201168"/>
          </a:xfrm>
          <a:prstGeom prst="rect">
            <a:avLst/>
          </a:prstGeom>
          <a:solidFill>
            <a:srgbClr val="FBEAE3"/>
          </a:solidFill>
          <a:ln w="6350">
            <a:solidFill>
              <a:srgbClr val="C256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1824" y="183108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78752" y="1737360"/>
            <a:ext cx="1953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— Wedge and the AI agents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1824" y="2219706"/>
            <a:ext cx="502920" cy="201168"/>
          </a:xfrm>
          <a:prstGeom prst="rect">
            <a:avLst/>
          </a:prstGeom>
          <a:solidFill>
            <a:srgbClr val="FBEAE3"/>
          </a:solidFill>
          <a:ln w="6350">
            <a:solidFill>
              <a:srgbClr val="C256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1824" y="221970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78752" y="2125980"/>
            <a:ext cx="19537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HW + SW solution company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2715768"/>
            <a:ext cx="4151376" cy="1417320"/>
          </a:xfrm>
          <a:prstGeom prst="rect">
            <a:avLst/>
          </a:prstGeom>
          <a:solidFill>
            <a:srgbClr val="F7F8FB"/>
          </a:solidFill>
          <a:ln w="12700">
            <a:solidFill>
              <a:srgbClr val="8A3D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2715768"/>
            <a:ext cx="73152" cy="1417320"/>
          </a:xfrm>
          <a:prstGeom prst="rect">
            <a:avLst/>
          </a:prstGeom>
          <a:solidFill>
            <a:srgbClr val="8A3D26"/>
          </a:solidFill>
          <a:ln w="12700">
            <a:solidFill>
              <a:srgbClr val="8A3D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8A3D26"/>
          </a:solidFill>
          <a:ln w="12700">
            <a:solidFill>
              <a:srgbClr val="8A3D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2825496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&amp; exit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30352" y="3260979"/>
            <a:ext cx="502920" cy="201168"/>
          </a:xfrm>
          <a:prstGeom prst="rect">
            <a:avLst/>
          </a:prstGeom>
          <a:solidFill>
            <a:srgbClr val="F4DDD2"/>
          </a:solidFill>
          <a:ln w="6350">
            <a:solidFill>
              <a:srgbClr val="8A3D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326097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97280" y="326440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cash to PMF (Aug'26 → Dec'27)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0352" y="3455289"/>
            <a:ext cx="502920" cy="201168"/>
          </a:xfrm>
          <a:prstGeom prst="rect">
            <a:avLst/>
          </a:prstGeom>
          <a:solidFill>
            <a:srgbClr val="F4DDD2"/>
          </a:solidFill>
          <a:ln w="6350">
            <a:solidFill>
              <a:srgbClr val="8A3D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45528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97280" y="345871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economics at 50 units/year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0352" y="3649599"/>
            <a:ext cx="502920" cy="201168"/>
          </a:xfrm>
          <a:prstGeom prst="rect">
            <a:avLst/>
          </a:prstGeom>
          <a:solidFill>
            <a:srgbClr val="F4DDD2"/>
          </a:solidFill>
          <a:ln w="6350">
            <a:solidFill>
              <a:srgbClr val="8A3D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" y="364959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97280" y="365302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· 2030 valuation · EXIT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0352" y="3843909"/>
            <a:ext cx="502920" cy="201168"/>
          </a:xfrm>
          <a:prstGeom prst="rect">
            <a:avLst/>
          </a:prstGeom>
          <a:solidFill>
            <a:srgbClr val="F4DDD2"/>
          </a:solidFill>
          <a:ln w="6350">
            <a:solidFill>
              <a:srgbClr val="8A3D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" y="384390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097280" y="384733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view · Deep Tech recognition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26864" y="2715768"/>
            <a:ext cx="4151376" cy="1417320"/>
          </a:xfrm>
          <a:prstGeom prst="rect">
            <a:avLst/>
          </a:prstGeom>
          <a:solidFill>
            <a:srgbClr val="F7F8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26864" y="2715768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9744" y="28620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9744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358384" y="2825496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operate (ABS)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4791456" y="3260979"/>
            <a:ext cx="502920" cy="201168"/>
          </a:xfrm>
          <a:prstGeom prst="rect">
            <a:avLst/>
          </a:prstGeom>
          <a:solidFill>
            <a:srgbClr val="EDF0F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91456" y="326097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58384" y="326440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Astra Compounds — multi-sensor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91456" y="3455289"/>
            <a:ext cx="502920" cy="201168"/>
          </a:xfrm>
          <a:prstGeom prst="rect">
            <a:avLst/>
          </a:prstGeom>
          <a:solidFill>
            <a:srgbClr val="EDF0F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91456" y="345528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18/19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58384" y="345871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Core Values — Individual · Org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91456" y="3649599"/>
            <a:ext cx="502920" cy="201168"/>
          </a:xfrm>
          <a:prstGeom prst="rect">
            <a:avLst/>
          </a:prstGeom>
          <a:solidFill>
            <a:srgbClr val="EDF0F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91456" y="364959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358384" y="365302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 Operating Flywheel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791456" y="3843909"/>
            <a:ext cx="502920" cy="201168"/>
          </a:xfrm>
          <a:prstGeom prst="rect">
            <a:avLst/>
          </a:prstGeom>
          <a:solidFill>
            <a:srgbClr val="EDF0F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91456" y="384390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358384" y="3847338"/>
            <a:ext cx="33741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Astra Team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65760" y="4270248"/>
            <a:ext cx="841248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5760" y="4270248"/>
            <a:ext cx="841248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43251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angel round  ·  funds Aug 2026 → Dec 2027  ·  hits PMF (50 devices, distributor live, SaaS attach) by year-end 2027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365760" y="46542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Business System  ·  India Beachhead  ·  World TAM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err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astraX</a:t>
            </a:r>
            <a:endParaRPr lang="en-US" sz="1100" err="1"/>
          </a:p>
        </p:txBody>
      </p:sp>
      <p:sp>
        <p:nvSpPr>
          <p:cNvPr id="3" name="Text 1"/>
          <p:cNvSpPr/>
          <p:nvPr/>
        </p:nvSpPr>
        <p:spPr>
          <a:xfrm>
            <a:off x="404425" y="562751"/>
            <a:ext cx="6668910" cy="48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 Phase1 Timeline (2025-2026)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7132320" y="25603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42632" y="2377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/>
          </a:p>
        </p:txBody>
      </p:sp>
      <p:sp>
        <p:nvSpPr>
          <p:cNvPr id="6" name="Shape 4"/>
          <p:cNvSpPr/>
          <p:nvPr/>
        </p:nvSpPr>
        <p:spPr>
          <a:xfrm>
            <a:off x="7132320" y="5029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42632" y="484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7132320" y="749808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42632" y="731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11480" y="2729484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40664" y="261518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1365" y="2871216"/>
            <a:ext cx="1463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10896" y="3328416"/>
            <a:ext cx="1115568" cy="868680"/>
          </a:xfrm>
          <a:prstGeom prst="rect">
            <a:avLst/>
          </a:prstGeom>
          <a:solidFill>
            <a:srgbClr val="0A2240"/>
          </a:solidFill>
          <a:ln w="1524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10896" y="3328416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02336" y="33741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02336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402336" y="3849624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~700 HH-XRF/yr in India</a:t>
            </a:r>
            <a:endParaRPr lang="en-US" sz="700">
              <a:latin typeface="Calibri"/>
              <a:ea typeface="Calibri"/>
              <a:cs typeface="Calibri"/>
            </a:endParaRPr>
          </a:p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Verticals: </a:t>
            </a:r>
            <a:r>
              <a:rPr lang="en-US" sz="7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reCycling</a:t>
            </a: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, Manu QC confirmed</a:t>
            </a:r>
            <a:endParaRPr lang="en-US" sz="700" err="1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75104" y="261518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095805" y="2157984"/>
            <a:ext cx="1463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545336" y="1289304"/>
            <a:ext cx="1115568" cy="868680"/>
          </a:xfrm>
          <a:prstGeom prst="rect">
            <a:avLst/>
          </a:prstGeom>
          <a:solidFill>
            <a:srgbClr val="0A2240"/>
          </a:solidFill>
          <a:ln w="1524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545336" y="1289304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636776" y="1335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 feasibility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636776" y="16642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Mar–May 2025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1636776" y="181051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Selected </a:t>
            </a:r>
            <a:r>
              <a:rPr lang="en-US" sz="7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Ampte</a:t>
            </a: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k</a:t>
            </a:r>
          </a:p>
          <a:p>
            <a:r>
              <a:rPr lang="en-US" sz="7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nitial</a:t>
            </a: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HW/SW architecture</a:t>
            </a:r>
          </a:p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Created summer POC plan</a:t>
            </a:r>
          </a:p>
        </p:txBody>
      </p:sp>
      <p:sp>
        <p:nvSpPr>
          <p:cNvPr id="25" name="Shape 23"/>
          <p:cNvSpPr/>
          <p:nvPr/>
        </p:nvSpPr>
        <p:spPr>
          <a:xfrm>
            <a:off x="3209544" y="261518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330245" y="2871216"/>
            <a:ext cx="1463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779776" y="3328416"/>
            <a:ext cx="1115568" cy="868680"/>
          </a:xfrm>
          <a:prstGeom prst="rect">
            <a:avLst/>
          </a:prstGeom>
          <a:solidFill>
            <a:srgbClr val="0A2240"/>
          </a:solidFill>
          <a:ln w="1524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779776" y="3328416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871216" y="33741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2871216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May–Aug 2025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2871216" y="3849624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Amptek basic HW XRF Spectrum to  Android</a:t>
            </a:r>
            <a:endParaRPr lang="en-US" sz="7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$5K GM/device feasible</a:t>
            </a:r>
            <a:endParaRPr lang="en-US" sz="70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443984" y="261518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564685" y="2157984"/>
            <a:ext cx="1463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014216" y="1289304"/>
            <a:ext cx="1115568" cy="868680"/>
          </a:xfrm>
          <a:prstGeom prst="rect">
            <a:avLst/>
          </a:prstGeom>
          <a:solidFill>
            <a:srgbClr val="0A2240"/>
          </a:solidFill>
          <a:ln w="1524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014216" y="1289304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105656" y="1335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4105656" y="16642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2025</a:t>
            </a:r>
            <a:endParaRPr lang="en-US" sz="750"/>
          </a:p>
        </p:txBody>
      </p:sp>
      <p:sp>
        <p:nvSpPr>
          <p:cNvPr id="38" name="Text 36"/>
          <p:cNvSpPr/>
          <p:nvPr/>
        </p:nvSpPr>
        <p:spPr>
          <a:xfrm>
            <a:off x="4105656" y="181051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US SME + </a:t>
            </a:r>
            <a:r>
              <a:rPr lang="en-US" sz="7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ndia</a:t>
            </a: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7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Engg</a:t>
            </a:r>
            <a:endParaRPr lang="en-US" sz="700">
              <a:solidFill>
                <a:srgbClr val="94A3B8"/>
              </a:solidFill>
              <a:latin typeface="Calibri"/>
              <a:ea typeface="Calibri"/>
              <a:cs typeface="Calibri"/>
            </a:endParaRPr>
          </a:p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EB1 Arch complete</a:t>
            </a:r>
            <a:endParaRPr lang="en-US" sz="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C-Corp established</a:t>
            </a:r>
            <a:endParaRPr lang="en-US" sz="700"/>
          </a:p>
        </p:txBody>
      </p:sp>
      <p:sp>
        <p:nvSpPr>
          <p:cNvPr id="39" name="Shape 37"/>
          <p:cNvSpPr/>
          <p:nvPr/>
        </p:nvSpPr>
        <p:spPr>
          <a:xfrm>
            <a:off x="5678424" y="2615184"/>
            <a:ext cx="256032" cy="256032"/>
          </a:xfrm>
          <a:prstGeom prst="ellipse">
            <a:avLst/>
          </a:prstGeom>
          <a:solidFill>
            <a:srgbClr val="FFC000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799125" y="2871216"/>
            <a:ext cx="14630" cy="4572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248656" y="3328416"/>
            <a:ext cx="1115568" cy="868680"/>
          </a:xfrm>
          <a:prstGeom prst="rect">
            <a:avLst/>
          </a:prstGeom>
          <a:noFill/>
          <a:ln w="15240">
            <a:solidFill>
              <a:schemeClr val="accent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248656" y="3328416"/>
            <a:ext cx="54864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340096" y="33741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Benchtop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5340096" y="367642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Jan–Jun 2026</a:t>
            </a:r>
            <a:endParaRPr lang="en-US" sz="750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340096" y="3849624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XRF Core (HW-SW) pipeline UP</a:t>
            </a:r>
            <a:endParaRPr lang="en-US"/>
          </a:p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Cloud Phase1 completed</a:t>
            </a:r>
            <a:endParaRPr lang="en-US">
              <a:ea typeface="Calibri"/>
              <a:cs typeface="Calibri"/>
            </a:endParaRPr>
          </a:p>
          <a:p>
            <a:endParaRPr lang="en-US" sz="7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912864" y="2615184"/>
            <a:ext cx="256032" cy="25603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7033565" y="2157984"/>
            <a:ext cx="1463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483096" y="1289304"/>
            <a:ext cx="1115568" cy="868680"/>
          </a:xfrm>
          <a:prstGeom prst="rect">
            <a:avLst/>
          </a:prstGeom>
          <a:solidFill>
            <a:srgbClr val="0A2240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483096" y="1289304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574536" y="13350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EB1 Phase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6574536" y="158998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Sept–Aug 2026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74536" y="181051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EE &amp; ME  design complete</a:t>
            </a:r>
            <a:endParaRPr lang="en-US" sz="700">
              <a:ea typeface="Calibri"/>
              <a:cs typeface="Calibri"/>
            </a:endParaRPr>
          </a:p>
          <a:p>
            <a:r>
              <a:rPr lang="en-US" sz="7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EB1 SW in progress</a:t>
            </a:r>
          </a:p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Aug 2026 HH</a:t>
            </a:r>
          </a:p>
          <a:p>
            <a:r>
              <a:rPr lang="en-US" sz="700">
                <a:solidFill>
                  <a:srgbClr val="94A3B8"/>
                </a:solidFill>
                <a:ea typeface="Calibri"/>
                <a:cs typeface="Calibri"/>
              </a:rPr>
              <a:t>Angel round close</a:t>
            </a:r>
            <a:endParaRPr lang="en-US" sz="70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7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147304" y="2615184"/>
            <a:ext cx="256032" cy="256032"/>
          </a:xfrm>
          <a:prstGeom prst="ellipse">
            <a:avLst/>
          </a:prstGeom>
          <a:solidFill>
            <a:srgbClr val="64748B"/>
          </a:solidFill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268005" y="2871216"/>
            <a:ext cx="1463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717536" y="3328416"/>
            <a:ext cx="1115568" cy="868680"/>
          </a:xfrm>
          <a:prstGeom prst="rect">
            <a:avLst/>
          </a:prstGeom>
          <a:solidFill>
            <a:srgbClr val="0A2240"/>
          </a:solidFill>
          <a:ln w="1524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7717536" y="3328416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7808976" y="33741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/>
          </a:p>
          <a:p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GTM Design</a:t>
            </a:r>
            <a:endParaRPr lang="en-US" sz="1000"/>
          </a:p>
        </p:txBody>
      </p:sp>
      <p:sp>
        <p:nvSpPr>
          <p:cNvPr id="58" name="Text 56"/>
          <p:cNvSpPr/>
          <p:nvPr/>
        </p:nvSpPr>
        <p:spPr>
          <a:xfrm>
            <a:off x="7808976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2026+</a:t>
            </a:r>
            <a:endParaRPr lang="en-US" sz="750"/>
          </a:p>
        </p:txBody>
      </p:sp>
      <p:sp>
        <p:nvSpPr>
          <p:cNvPr id="59" name="Text 57"/>
          <p:cNvSpPr/>
          <p:nvPr/>
        </p:nvSpPr>
        <p:spPr>
          <a:xfrm>
            <a:off x="7808976" y="3849624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distributor</a:t>
            </a:r>
            <a:endParaRPr lang="en-US" sz="700"/>
          </a:p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GM @ 500 units</a:t>
            </a:r>
            <a:endParaRPr lang="en-US" sz="700"/>
          </a:p>
        </p:txBody>
      </p:sp>
      <p:sp>
        <p:nvSpPr>
          <p:cNvPr id="60" name="Text 58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B6D8E0"/>
                </a:solidFill>
                <a:latin typeface="Calibri"/>
              </a:rPr>
              <a:t>Astra Business System  ·  India Beachhead  ·  World TAM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SCHEDULE TO PB1.0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build → Pilot build → ★ READY Feb 2027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4937760" y="886968"/>
            <a:ext cx="118872" cy="118872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102352" y="841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(active)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6355080" y="886968"/>
            <a:ext cx="118872" cy="1188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19672" y="841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7772400" y="886968"/>
            <a:ext cx="118872" cy="11887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36992" y="841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future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8092440" cy="7315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Nov25</a:t>
            </a:r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1283018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00"/>
          </a:p>
        </p:txBody>
      </p:sp>
      <p:sp>
        <p:nvSpPr>
          <p:cNvPr id="13" name="Text 11"/>
          <p:cNvSpPr/>
          <p:nvPr/>
        </p:nvSpPr>
        <p:spPr>
          <a:xfrm>
            <a:off x="1788795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Jan26</a:t>
            </a:r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2294573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00"/>
          </a:p>
        </p:txBody>
      </p:sp>
      <p:sp>
        <p:nvSpPr>
          <p:cNvPr id="15" name="Text 13"/>
          <p:cNvSpPr/>
          <p:nvPr/>
        </p:nvSpPr>
        <p:spPr>
          <a:xfrm>
            <a:off x="2800350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/>
          </a:p>
        </p:txBody>
      </p:sp>
      <p:sp>
        <p:nvSpPr>
          <p:cNvPr id="16" name="Text 14"/>
          <p:cNvSpPr/>
          <p:nvPr/>
        </p:nvSpPr>
        <p:spPr>
          <a:xfrm>
            <a:off x="3306128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/>
          </a:p>
        </p:txBody>
      </p:sp>
      <p:sp>
        <p:nvSpPr>
          <p:cNvPr id="17" name="Text 15"/>
          <p:cNvSpPr/>
          <p:nvPr/>
        </p:nvSpPr>
        <p:spPr>
          <a:xfrm>
            <a:off x="3811905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00"/>
          </a:p>
        </p:txBody>
      </p:sp>
      <p:sp>
        <p:nvSpPr>
          <p:cNvPr id="18" name="Text 16"/>
          <p:cNvSpPr/>
          <p:nvPr/>
        </p:nvSpPr>
        <p:spPr>
          <a:xfrm>
            <a:off x="4317683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/>
          </a:p>
        </p:txBody>
      </p:sp>
      <p:sp>
        <p:nvSpPr>
          <p:cNvPr id="19" name="Text 17"/>
          <p:cNvSpPr/>
          <p:nvPr/>
        </p:nvSpPr>
        <p:spPr>
          <a:xfrm>
            <a:off x="4823460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/>
          </a:p>
        </p:txBody>
      </p:sp>
      <p:sp>
        <p:nvSpPr>
          <p:cNvPr id="20" name="Text 18"/>
          <p:cNvSpPr/>
          <p:nvPr/>
        </p:nvSpPr>
        <p:spPr>
          <a:xfrm>
            <a:off x="5329237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00"/>
          </a:p>
        </p:txBody>
      </p:sp>
      <p:sp>
        <p:nvSpPr>
          <p:cNvPr id="21" name="Text 19"/>
          <p:cNvSpPr/>
          <p:nvPr/>
        </p:nvSpPr>
        <p:spPr>
          <a:xfrm>
            <a:off x="5835015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/>
          </a:p>
        </p:txBody>
      </p:sp>
      <p:sp>
        <p:nvSpPr>
          <p:cNvPr id="22" name="Text 20"/>
          <p:cNvSpPr/>
          <p:nvPr/>
        </p:nvSpPr>
        <p:spPr>
          <a:xfrm>
            <a:off x="6340792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/>
          </a:p>
        </p:txBody>
      </p:sp>
      <p:sp>
        <p:nvSpPr>
          <p:cNvPr id="23" name="Text 21"/>
          <p:cNvSpPr/>
          <p:nvPr/>
        </p:nvSpPr>
        <p:spPr>
          <a:xfrm>
            <a:off x="6846570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/>
          </a:p>
        </p:txBody>
      </p:sp>
      <p:sp>
        <p:nvSpPr>
          <p:cNvPr id="24" name="Text 22"/>
          <p:cNvSpPr/>
          <p:nvPr/>
        </p:nvSpPr>
        <p:spPr>
          <a:xfrm>
            <a:off x="7352348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00"/>
          </a:p>
        </p:txBody>
      </p:sp>
      <p:sp>
        <p:nvSpPr>
          <p:cNvPr id="25" name="Text 23"/>
          <p:cNvSpPr/>
          <p:nvPr/>
        </p:nvSpPr>
        <p:spPr>
          <a:xfrm>
            <a:off x="7858125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Jan27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8363903" y="1188720"/>
            <a:ext cx="505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00"/>
          </a:p>
        </p:txBody>
      </p:sp>
      <p:sp>
        <p:nvSpPr>
          <p:cNvPr id="27" name="Shape 25"/>
          <p:cNvSpPr/>
          <p:nvPr/>
        </p:nvSpPr>
        <p:spPr>
          <a:xfrm>
            <a:off x="4064794" y="1444752"/>
            <a:ext cx="0" cy="3108960"/>
          </a:xfrm>
          <a:prstGeom prst="line">
            <a:avLst/>
          </a:prstGeom>
          <a:noFill/>
          <a:ln w="15875">
            <a:solidFill>
              <a:srgbClr val="FED7A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424714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May 26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45720" y="17373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BENCHTOP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795528" y="1691640"/>
            <a:ext cx="3503866" cy="292608"/>
          </a:xfrm>
          <a:prstGeom prst="roundRect">
            <a:avLst>
              <a:gd name="adj" fmla="val 12500"/>
            </a:avLst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95528" y="1691640"/>
            <a:ext cx="350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Benchtop dev · active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777240" y="200253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test · Cal check · LiveTest · GradeMatch · WiFi · Debug infra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5720" y="24505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EB1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795528" y="2404872"/>
            <a:ext cx="2998089" cy="292608"/>
          </a:xfrm>
          <a:prstGeom prst="roundRect">
            <a:avLst>
              <a:gd name="adj" fmla="val 12500"/>
            </a:avLst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95528" y="2404872"/>
            <a:ext cx="29980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active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3830193" y="2404872"/>
            <a:ext cx="974979" cy="292608"/>
          </a:xfrm>
          <a:prstGeom prst="roundRect">
            <a:avLst>
              <a:gd name="adj" fmla="val 125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830193" y="2404872"/>
            <a:ext cx="9749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4841748" y="2404872"/>
            <a:ext cx="974979" cy="292608"/>
          </a:xfrm>
          <a:prstGeom prst="roundRect">
            <a:avLst>
              <a:gd name="adj" fmla="val 12500"/>
            </a:avLst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841748" y="2404872"/>
            <a:ext cx="9749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777240" y="27157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partner RFQ underway · ME and EE reviews · HH system test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5720" y="31638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</a:t>
            </a:r>
            <a:endParaRPr lang="en-US" sz="850"/>
          </a:p>
        </p:txBody>
      </p:sp>
      <p:sp>
        <p:nvSpPr>
          <p:cNvPr id="42" name="Shape 40"/>
          <p:cNvSpPr/>
          <p:nvPr/>
        </p:nvSpPr>
        <p:spPr>
          <a:xfrm>
            <a:off x="3830193" y="3118104"/>
            <a:ext cx="1480756" cy="292608"/>
          </a:xfrm>
          <a:prstGeom prst="roundRect">
            <a:avLst>
              <a:gd name="adj" fmla="val 12500"/>
            </a:avLst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830193" y="3118104"/>
            <a:ext cx="1480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5347525" y="3118104"/>
            <a:ext cx="974979" cy="292608"/>
          </a:xfrm>
          <a:prstGeom prst="roundRect">
            <a:avLst>
              <a:gd name="adj" fmla="val 12500"/>
            </a:avLst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347525" y="3118104"/>
            <a:ext cx="9749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6359080" y="3118104"/>
            <a:ext cx="974979" cy="292608"/>
          </a:xfrm>
          <a:prstGeom prst="roundRect">
            <a:avLst>
              <a:gd name="adj" fmla="val 12500"/>
            </a:avLst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359080" y="3118104"/>
            <a:ext cx="9749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777240" y="34290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system &amp; pre-regulatory · IP54 · Drop · XRF alloy · Sales stack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45720" y="387705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PB1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5853303" y="3831336"/>
            <a:ext cx="1480756" cy="292608"/>
          </a:xfrm>
          <a:prstGeom prst="roundRect">
            <a:avLst>
              <a:gd name="adj" fmla="val 12500"/>
            </a:avLst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853303" y="3831336"/>
            <a:ext cx="1480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7370636" y="3831336"/>
            <a:ext cx="974979" cy="292608"/>
          </a:xfrm>
          <a:prstGeom prst="roundRect">
            <a:avLst>
              <a:gd name="adj" fmla="val 12500"/>
            </a:avLst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370636" y="3831336"/>
            <a:ext cx="9749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8382190" y="3831336"/>
            <a:ext cx="469201" cy="292608"/>
          </a:xfrm>
          <a:prstGeom prst="roundRect">
            <a:avLst>
              <a:gd name="adj" fmla="val 125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382190" y="3831336"/>
            <a:ext cx="4692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/>
          </a:p>
        </p:txBody>
      </p:sp>
      <p:sp>
        <p:nvSpPr>
          <p:cNvPr id="56" name="Text 54"/>
          <p:cNvSpPr/>
          <p:nvPr/>
        </p:nvSpPr>
        <p:spPr>
          <a:xfrm>
            <a:off x="777240" y="414223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build · regulatory cert · 30–50 units · Factory test (Cloud / SaaS)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>
            <a:off x="8433911" y="3794760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433911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/>
          </a:p>
        </p:txBody>
      </p:sp>
      <p:sp>
        <p:nvSpPr>
          <p:cNvPr id="59" name="Text 57"/>
          <p:cNvSpPr/>
          <p:nvPr/>
        </p:nvSpPr>
        <p:spPr>
          <a:xfrm>
            <a:off x="7656671" y="4151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· Feb 2027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365760" y="4526280"/>
            <a:ext cx="8412480" cy="7315"/>
          </a:xfrm>
          <a:prstGeom prst="rect">
            <a:avLst/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READY Feb 2027 to build 30–50 devices</a:t>
            </a:r>
            <a:endParaRPr lang="en-US" sz="900"/>
          </a:p>
        </p:txBody>
      </p:sp>
      <p:sp>
        <p:nvSpPr>
          <p:cNvPr id="62" name="Text 60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B6D8E0"/>
                </a:solidFill>
                <a:latin typeface="Calibri"/>
              </a:rPr>
              <a:t>Astra Business System  ·  India Beachhead  ·  World TAM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· DEPENDENCY VIEW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EB1 → EB2 → PB1.0 — what has to be true to advance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7269480" y="256032"/>
            <a:ext cx="155448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269480" y="2560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= HARD GATE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365760" y="7589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gates at each step. PB1.1 contingency lane absorbs cert delay risk → schedule slip to April-end build start.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28016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280160" cy="9144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38912" y="1335024"/>
            <a:ext cx="256032" cy="256032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891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749808" y="1316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57200" y="1609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457200" y="1828800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Selected vendors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HW bring-up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benchtop test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1783080" y="1188720"/>
            <a:ext cx="146304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783080" y="1188720"/>
            <a:ext cx="1463040" cy="9144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856232" y="1335024"/>
            <a:ext cx="256032" cy="256032"/>
          </a:xfrm>
          <a:prstGeom prst="ellipse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85623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2167128" y="1316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EB1 sys test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874520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1A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sub-gates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1874520" y="1828800"/>
            <a:ext cx="1280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XRF quality / alloys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+ AI agent value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FW: battery, UX, safety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Reliability hours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3383280" y="1188720"/>
            <a:ext cx="137160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383280" y="1188720"/>
            <a:ext cx="1371600" cy="9144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456432" y="1335024"/>
            <a:ext cx="256032" cy="256032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5643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3767328" y="1316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EB2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3474720" y="1609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7–8 units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3474720" y="1828800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MVP + pre-regulatory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Mech freeze candidate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trial + 2–3 destructive</a:t>
            </a:r>
            <a:endParaRPr lang="en-US" sz="750"/>
          </a:p>
        </p:txBody>
      </p:sp>
      <p:sp>
        <p:nvSpPr>
          <p:cNvPr id="29" name="Shape 27"/>
          <p:cNvSpPr/>
          <p:nvPr/>
        </p:nvSpPr>
        <p:spPr>
          <a:xfrm>
            <a:off x="4892040" y="1188720"/>
            <a:ext cx="164592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892040" y="1188720"/>
            <a:ext cx="1645920" cy="9144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965192" y="1335024"/>
            <a:ext cx="256032" cy="256032"/>
          </a:xfrm>
          <a:prstGeom prst="ellipse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96519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5276088" y="1316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EB2 + trial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498348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1A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tracks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4983480" y="1828800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CE/FCC/UL/RAD certs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IP54 + drop + EMC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units in customer field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+ cloud feedback</a:t>
            </a:r>
            <a:endParaRPr lang="en-US" sz="750"/>
          </a:p>
        </p:txBody>
      </p:sp>
      <p:sp>
        <p:nvSpPr>
          <p:cNvPr id="36" name="Shape 34"/>
          <p:cNvSpPr/>
          <p:nvPr/>
        </p:nvSpPr>
        <p:spPr>
          <a:xfrm>
            <a:off x="6675120" y="1188720"/>
            <a:ext cx="91440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675120" y="1188720"/>
            <a:ext cx="914400" cy="9144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748272" y="1335024"/>
            <a:ext cx="256032" cy="256032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74827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7059168" y="1316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PB1.0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6766560" y="16093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candidate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6766560" y="1828800"/>
            <a:ext cx="731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fixes only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50-unit batch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cert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7726680" y="1188720"/>
            <a:ext cx="105156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726680" y="1188720"/>
            <a:ext cx="105156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799832" y="1335024"/>
            <a:ext cx="256032" cy="25603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79983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8110728" y="13167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2027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7818120" y="16093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units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7818120" y="1828800"/>
            <a:ext cx="868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Via distributor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starts</a:t>
            </a:r>
            <a:endParaRPr lang="en-US" sz="750"/>
          </a:p>
        </p:txBody>
      </p:sp>
      <p:sp>
        <p:nvSpPr>
          <p:cNvPr id="50" name="Shape 48"/>
          <p:cNvSpPr/>
          <p:nvPr/>
        </p:nvSpPr>
        <p:spPr>
          <a:xfrm>
            <a:off x="1664208" y="1586484"/>
            <a:ext cx="45720" cy="274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618488" y="1481328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3264408" y="1586484"/>
            <a:ext cx="45720" cy="274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3218688" y="1481328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54" name="Shape 52"/>
          <p:cNvSpPr/>
          <p:nvPr/>
        </p:nvSpPr>
        <p:spPr>
          <a:xfrm>
            <a:off x="4773168" y="1586484"/>
            <a:ext cx="45720" cy="274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727448" y="1481328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56" name="Shape 54"/>
          <p:cNvSpPr/>
          <p:nvPr/>
        </p:nvSpPr>
        <p:spPr>
          <a:xfrm>
            <a:off x="6556248" y="1586484"/>
            <a:ext cx="45720" cy="274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510528" y="1481328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58" name="Shape 56"/>
          <p:cNvSpPr/>
          <p:nvPr/>
        </p:nvSpPr>
        <p:spPr>
          <a:xfrm>
            <a:off x="7607808" y="1586484"/>
            <a:ext cx="45720" cy="27432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7562088" y="1481328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7178040" y="9875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GATE</a:t>
            </a:r>
            <a:endParaRPr lang="en-US" sz="750"/>
          </a:p>
        </p:txBody>
      </p:sp>
      <p:sp>
        <p:nvSpPr>
          <p:cNvPr id="61" name="Text 59"/>
          <p:cNvSpPr/>
          <p:nvPr/>
        </p:nvSpPr>
        <p:spPr>
          <a:xfrm>
            <a:off x="7543800" y="1133856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/>
          </a:p>
        </p:txBody>
      </p:sp>
      <p:sp>
        <p:nvSpPr>
          <p:cNvPr id="62" name="Text 60"/>
          <p:cNvSpPr/>
          <p:nvPr/>
        </p:nvSpPr>
        <p:spPr>
          <a:xfrm>
            <a:off x="6355080" y="26517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CERT DELAY ↓</a:t>
            </a:r>
            <a:endParaRPr lang="en-US" sz="750"/>
          </a:p>
        </p:txBody>
      </p:sp>
      <p:sp>
        <p:nvSpPr>
          <p:cNvPr id="63" name="Shape 61"/>
          <p:cNvSpPr/>
          <p:nvPr/>
        </p:nvSpPr>
        <p:spPr>
          <a:xfrm>
            <a:off x="6355080" y="2880360"/>
            <a:ext cx="1508760" cy="109728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6355080" y="2880360"/>
            <a:ext cx="150876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446520" y="30083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PB1.1 (optional)</a:t>
            </a:r>
            <a:endParaRPr lang="en-US" sz="1000"/>
          </a:p>
        </p:txBody>
      </p:sp>
      <p:sp>
        <p:nvSpPr>
          <p:cNvPr id="66" name="Text 64"/>
          <p:cNvSpPr/>
          <p:nvPr/>
        </p:nvSpPr>
        <p:spPr>
          <a:xfrm>
            <a:off x="6446520" y="32461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Cert-delay contingency</a:t>
            </a:r>
            <a:endParaRPr lang="en-US" sz="800"/>
          </a:p>
        </p:txBody>
      </p:sp>
      <p:sp>
        <p:nvSpPr>
          <p:cNvPr id="67" name="Text 65"/>
          <p:cNvSpPr/>
          <p:nvPr/>
        </p:nvSpPr>
        <p:spPr>
          <a:xfrm>
            <a:off x="6446520" y="34472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Trigger: PB1.0 cert finding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Targeted fix only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Re-cert on PB1.1</a:t>
            </a:r>
            <a:endParaRPr lang="en-US" sz="750"/>
          </a:p>
          <a:p>
            <a:pPr marL="0" indent="0">
              <a:spcAft>
                <a:spcPts val="100"/>
              </a:spcAft>
              <a:buNone/>
            </a:pPr>
            <a:r>
              <a:rPr lang="en-US" sz="7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Build: late Apr 2027</a:t>
            </a:r>
            <a:endParaRPr lang="en-US" sz="750"/>
          </a:p>
        </p:txBody>
      </p:sp>
      <p:sp>
        <p:nvSpPr>
          <p:cNvPr id="68" name="Shape 66"/>
          <p:cNvSpPr/>
          <p:nvPr/>
        </p:nvSpPr>
        <p:spPr>
          <a:xfrm>
            <a:off x="7863840" y="3415284"/>
            <a:ext cx="388620" cy="27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8238744" y="2679192"/>
            <a:ext cx="27432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8142732" y="25694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365760" y="2880360"/>
            <a:ext cx="5852160" cy="1097280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365760" y="2880360"/>
            <a:ext cx="73152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548640" y="295351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RISK — KEY EXPOSURE</a:t>
            </a:r>
            <a:endParaRPr lang="en-US" sz="900"/>
          </a:p>
        </p:txBody>
      </p:sp>
      <p:sp>
        <p:nvSpPr>
          <p:cNvPr id="74" name="Text 72"/>
          <p:cNvSpPr/>
          <p:nvPr/>
        </p:nvSpPr>
        <p:spPr>
          <a:xfrm>
            <a:off x="548640" y="3172968"/>
            <a:ext cx="1371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</a:t>
            </a:r>
            <a:endParaRPr lang="en-US" sz="750"/>
          </a:p>
        </p:txBody>
      </p:sp>
      <p:sp>
        <p:nvSpPr>
          <p:cNvPr id="75" name="Text 73"/>
          <p:cNvSpPr/>
          <p:nvPr/>
        </p:nvSpPr>
        <p:spPr>
          <a:xfrm>
            <a:off x="1920240" y="3172968"/>
            <a:ext cx="2011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start: ~Feb 2027</a:t>
            </a:r>
            <a:endParaRPr lang="en-US" sz="900"/>
          </a:p>
        </p:txBody>
      </p:sp>
      <p:sp>
        <p:nvSpPr>
          <p:cNvPr id="76" name="Text 74"/>
          <p:cNvSpPr/>
          <p:nvPr/>
        </p:nvSpPr>
        <p:spPr>
          <a:xfrm>
            <a:off x="3931920" y="3172968"/>
            <a:ext cx="21031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PB1.0 clears cert on first submission</a:t>
            </a:r>
            <a:endParaRPr lang="en-US" sz="800"/>
          </a:p>
        </p:txBody>
      </p:sp>
      <p:sp>
        <p:nvSpPr>
          <p:cNvPr id="77" name="Text 75"/>
          <p:cNvSpPr/>
          <p:nvPr/>
        </p:nvSpPr>
        <p:spPr>
          <a:xfrm>
            <a:off x="548640" y="3416808"/>
            <a:ext cx="1371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750"/>
          </a:p>
        </p:txBody>
      </p:sp>
      <p:sp>
        <p:nvSpPr>
          <p:cNvPr id="78" name="Text 76"/>
          <p:cNvSpPr/>
          <p:nvPr/>
        </p:nvSpPr>
        <p:spPr>
          <a:xfrm>
            <a:off x="1920240" y="3416808"/>
            <a:ext cx="2011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slips to late April 2027</a:t>
            </a:r>
            <a:endParaRPr lang="en-US" sz="900"/>
          </a:p>
        </p:txBody>
      </p:sp>
      <p:sp>
        <p:nvSpPr>
          <p:cNvPr id="79" name="Text 77"/>
          <p:cNvSpPr/>
          <p:nvPr/>
        </p:nvSpPr>
        <p:spPr>
          <a:xfrm>
            <a:off x="3931920" y="3416808"/>
            <a:ext cx="21031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PB1.1 fixes cert finding → re-submit → ~8–12 wk delay</a:t>
            </a:r>
            <a:endParaRPr lang="en-US" sz="800"/>
          </a:p>
        </p:txBody>
      </p:sp>
      <p:sp>
        <p:nvSpPr>
          <p:cNvPr id="80" name="Text 78"/>
          <p:cNvSpPr/>
          <p:nvPr/>
        </p:nvSpPr>
        <p:spPr>
          <a:xfrm>
            <a:off x="548640" y="3660648"/>
            <a:ext cx="1371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750"/>
          </a:p>
        </p:txBody>
      </p:sp>
      <p:sp>
        <p:nvSpPr>
          <p:cNvPr id="81" name="Text 79"/>
          <p:cNvSpPr/>
          <p:nvPr/>
        </p:nvSpPr>
        <p:spPr>
          <a:xfrm>
            <a:off x="1920240" y="3660648"/>
            <a:ext cx="20116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revenue + Series A pitch</a:t>
            </a:r>
            <a:endParaRPr lang="en-US" sz="900"/>
          </a:p>
        </p:txBody>
      </p:sp>
      <p:sp>
        <p:nvSpPr>
          <p:cNvPr id="82" name="Text 80"/>
          <p:cNvSpPr/>
          <p:nvPr/>
        </p:nvSpPr>
        <p:spPr>
          <a:xfrm>
            <a:off x="3931920" y="3660648"/>
            <a:ext cx="21031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sell-through window; affects YE'27 cash</a:t>
            </a:r>
            <a:endParaRPr lang="en-US" sz="800"/>
          </a:p>
        </p:txBody>
      </p:sp>
      <p:sp>
        <p:nvSpPr>
          <p:cNvPr id="83" name="Shape 81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50292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r>
              <a:rPr lang="en-US" sz="85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Pre-cert engagement with notified bodies in 2026 to surface issues early  ·  internal pre-cert testing on EB2 before formal submission  ·  PB1.1 lane is budgeted and time-boxed, not an open-ended slip</a:t>
            </a:r>
            <a:endParaRPr lang="en-US" sz="900"/>
          </a:p>
        </p:txBody>
      </p:sp>
      <p:sp>
        <p:nvSpPr>
          <p:cNvPr id="85" name="Text 83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B6D8E0"/>
                </a:solidFill>
                <a:latin typeface="Calibri"/>
              </a:rPr>
              <a:t>Astra Business System  ·  India Beachhead  ·  World TAM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Critical path to PB1.0 — what we close next</a:t>
            </a:r>
            <a:endParaRPr lang="en-US" sz="200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228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FINANCIAL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023360" cy="228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49808" y="141732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EB1 prototype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749808" y="172821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vendor selections; bring up first EB1 build with chosen partners.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576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749808" y="219456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for lead apps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749808" y="250545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Build calibration for recycling and </a:t>
            </a:r>
            <a:r>
              <a:rPr lang="en-US" sz="900" dirty="0" err="1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mfg</a:t>
            </a:r>
            <a:r>
              <a:rPr lang="en-US" sz="90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-QC verticals. Execution for EB1, plan TBD.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576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749808" y="29718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 up 5 / 50 / 500 BOM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49808" y="3282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unit costs at proto, pilot, and scale volumes. Drives runway and margin.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576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49808" y="374904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Negotiate with Amptek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49808" y="405993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Tube, SDD and DPP terms at pilot and scale volumes. Lead-time commitments.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138928" y="141732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 up team needs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138928" y="172821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Operating-cost view: roles going full-time and when. External Lab(T-Hub) for debug. ESOP commitments post-angel.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224028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5488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138928" y="219456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mfg partner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138928" y="250545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MQS Tech / Amar Raja / VVDN. Quality, capacity, willingness to co-invest.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75488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138928" y="29718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P&amp;L: break-even + 500/yr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5138928" y="3282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target P&amp;L with break-even point and 500-device/yr economics.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292608" cy="292608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75488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138928" y="374904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distributor + commission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138928" y="405993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sales commission; reflect dealer margin. Confirm &gt;30% GM at 500/yr.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365760" y="4553712"/>
            <a:ext cx="8412480" cy="292608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0292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10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angel  ·  bring up EB1  ·  lock 500-volume economics with &gt;30% GM  ·  distributor agreement in hand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risks on the road to PB1.0 — paired with mitigations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7178040" y="201168"/>
            <a:ext cx="1691640" cy="45720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78040" y="2194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78040" y="3840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 </a:t>
            </a:r>
            <a:r>
              <a:rPr lang="en-US" sz="12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has an owned mitigation. Discipline = surfacing risks early + acting before they bind.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271016"/>
            <a:ext cx="4160520" cy="20117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17720" y="10515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617720" y="1271016"/>
            <a:ext cx="4160520" cy="2011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4160520" cy="539496"/>
          </a:xfrm>
          <a:prstGeom prst="rect">
            <a:avLst/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1371600"/>
            <a:ext cx="91440" cy="5394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0352" y="14081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22960" y="1417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4023360" y="1417320"/>
            <a:ext cx="365760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023360" y="14173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530352" y="15819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AI-agent adoption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30352" y="1737360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customers embrace AI agents on top of the device? Adoption pace = moat compounding.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4617720" y="1371600"/>
            <a:ext cx="4160520" cy="53949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17720" y="1371600"/>
            <a:ext cx="91440" cy="5394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54880" y="14081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029200" y="1408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customers sooner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4782312" y="1627632"/>
            <a:ext cx="3886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EB1/EB2 in front of 2-3 customers early to validate agent value before PB1.0 freeze.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365760" y="1938528"/>
            <a:ext cx="4160520" cy="539496"/>
          </a:xfrm>
          <a:prstGeom prst="rect">
            <a:avLst/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65760" y="1938528"/>
            <a:ext cx="91440" cy="5394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30352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822960" y="19842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750"/>
          </a:p>
        </p:txBody>
      </p:sp>
      <p:sp>
        <p:nvSpPr>
          <p:cNvPr id="30" name="Shape 28"/>
          <p:cNvSpPr/>
          <p:nvPr/>
        </p:nvSpPr>
        <p:spPr>
          <a:xfrm>
            <a:off x="4023360" y="1984248"/>
            <a:ext cx="365760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023360" y="1984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/>
          </a:p>
        </p:txBody>
      </p:sp>
      <p:sp>
        <p:nvSpPr>
          <p:cNvPr id="32" name="Text 30"/>
          <p:cNvSpPr/>
          <p:nvPr/>
        </p:nvSpPr>
        <p:spPr>
          <a:xfrm>
            <a:off x="530352" y="21488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Distributor ramp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30352" y="2304288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Can India distributor move 50 units in 2027 and 150 in 2028?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17720" y="1938528"/>
            <a:ext cx="4160520" cy="53949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17720" y="1938528"/>
            <a:ext cx="91440" cy="5394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754880" y="19751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502920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 distributor early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4782312" y="2194560"/>
            <a:ext cx="3886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Co-build the 50-unit sell plan during product dev — contingent PO ahead of PB1.0 build.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365760" y="2505456"/>
            <a:ext cx="4160520" cy="539496"/>
          </a:xfrm>
          <a:prstGeom prst="rect">
            <a:avLst/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65760" y="2505456"/>
            <a:ext cx="91440" cy="5394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30352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822960" y="25511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4023360" y="2551176"/>
            <a:ext cx="365760" cy="164592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0" y="25511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750"/>
          </a:p>
        </p:txBody>
      </p:sp>
      <p:sp>
        <p:nvSpPr>
          <p:cNvPr id="45" name="Text 43"/>
          <p:cNvSpPr/>
          <p:nvPr/>
        </p:nvSpPr>
        <p:spPr>
          <a:xfrm>
            <a:off x="530352" y="2715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 delays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530352" y="2871216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FCC / UL / radiation cert slipping pushes PB1.0 out and extends cash trough.</a:t>
            </a:r>
            <a:endParaRPr lang="en-US" sz="800"/>
          </a:p>
        </p:txBody>
      </p:sp>
      <p:sp>
        <p:nvSpPr>
          <p:cNvPr id="47" name="Shape 45"/>
          <p:cNvSpPr/>
          <p:nvPr/>
        </p:nvSpPr>
        <p:spPr>
          <a:xfrm>
            <a:off x="4617720" y="2505456"/>
            <a:ext cx="4160520" cy="53949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617720" y="2505456"/>
            <a:ext cx="91440" cy="5394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754880" y="25420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50" name="Text 48"/>
          <p:cNvSpPr/>
          <p:nvPr/>
        </p:nvSpPr>
        <p:spPr>
          <a:xfrm>
            <a:off x="5029200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Mfg partners with cert track record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4782312" y="2761488"/>
            <a:ext cx="3886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partners with AERB + global cert experience. Pre-cert engagement on EB2.</a:t>
            </a:r>
            <a:endParaRPr lang="en-US" sz="800"/>
          </a:p>
        </p:txBody>
      </p:sp>
      <p:sp>
        <p:nvSpPr>
          <p:cNvPr id="52" name="Shape 50"/>
          <p:cNvSpPr/>
          <p:nvPr/>
        </p:nvSpPr>
        <p:spPr>
          <a:xfrm>
            <a:off x="365760" y="3072384"/>
            <a:ext cx="4160520" cy="539496"/>
          </a:xfrm>
          <a:prstGeom prst="rect">
            <a:avLst/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365760" y="3072384"/>
            <a:ext cx="91440" cy="5394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30352" y="3108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/>
          </a:p>
        </p:txBody>
      </p:sp>
      <p:sp>
        <p:nvSpPr>
          <p:cNvPr id="55" name="Text 53"/>
          <p:cNvSpPr/>
          <p:nvPr/>
        </p:nvSpPr>
        <p:spPr>
          <a:xfrm>
            <a:off x="822960" y="3118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50"/>
          </a:p>
        </p:txBody>
      </p:sp>
      <p:sp>
        <p:nvSpPr>
          <p:cNvPr id="56" name="Shape 54"/>
          <p:cNvSpPr/>
          <p:nvPr/>
        </p:nvSpPr>
        <p:spPr>
          <a:xfrm>
            <a:off x="4023360" y="3118104"/>
            <a:ext cx="365760" cy="164592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023360" y="3118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750"/>
          </a:p>
        </p:txBody>
      </p:sp>
      <p:sp>
        <p:nvSpPr>
          <p:cNvPr id="58" name="Text 56"/>
          <p:cNvSpPr/>
          <p:nvPr/>
        </p:nvSpPr>
        <p:spPr>
          <a:xfrm>
            <a:off x="530352" y="32826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Mfg quality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530352" y="3438144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Yield, consistency, RMA rate from chosen mfg partner. Hits margin and brand at once.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4617720" y="3072384"/>
            <a:ext cx="4160520" cy="53949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4617720" y="3072384"/>
            <a:ext cx="91440" cy="5394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4754880" y="31089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63" name="Text 61"/>
          <p:cNvSpPr/>
          <p:nvPr/>
        </p:nvSpPr>
        <p:spPr>
          <a:xfrm>
            <a:off x="502920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mfg processes upfront</a:t>
            </a:r>
            <a:endParaRPr lang="en-US" sz="1100"/>
          </a:p>
        </p:txBody>
      </p:sp>
      <p:sp>
        <p:nvSpPr>
          <p:cNvPr id="64" name="Text 62"/>
          <p:cNvSpPr/>
          <p:nvPr/>
        </p:nvSpPr>
        <p:spPr>
          <a:xfrm>
            <a:off x="4782312" y="3328416"/>
            <a:ext cx="3886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partner processes before selection. Quality gates at EB1 → EB2 → PB1.0.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365760" y="3639312"/>
            <a:ext cx="4160520" cy="539496"/>
          </a:xfrm>
          <a:prstGeom prst="rect">
            <a:avLst/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365760" y="3639312"/>
            <a:ext cx="91440" cy="5394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530352" y="3675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/>
          </a:p>
        </p:txBody>
      </p:sp>
      <p:sp>
        <p:nvSpPr>
          <p:cNvPr id="68" name="Text 66"/>
          <p:cNvSpPr/>
          <p:nvPr/>
        </p:nvSpPr>
        <p:spPr>
          <a:xfrm>
            <a:off x="822960" y="36850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50"/>
          </a:p>
        </p:txBody>
      </p:sp>
      <p:sp>
        <p:nvSpPr>
          <p:cNvPr id="69" name="Shape 67"/>
          <p:cNvSpPr/>
          <p:nvPr/>
        </p:nvSpPr>
        <p:spPr>
          <a:xfrm>
            <a:off x="4023360" y="3685032"/>
            <a:ext cx="365760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023360" y="36850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/>
          </a:p>
        </p:txBody>
      </p:sp>
      <p:sp>
        <p:nvSpPr>
          <p:cNvPr id="71" name="Text 69"/>
          <p:cNvSpPr/>
          <p:nvPr/>
        </p:nvSpPr>
        <p:spPr>
          <a:xfrm>
            <a:off x="530352" y="3849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Service-call volume</a:t>
            </a:r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530352" y="4005072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field service calls. Burns cash, ties up eng, slows distributor confidence.</a:t>
            </a:r>
            <a:endParaRPr lang="en-US" sz="800"/>
          </a:p>
        </p:txBody>
      </p:sp>
      <p:sp>
        <p:nvSpPr>
          <p:cNvPr id="73" name="Shape 71"/>
          <p:cNvSpPr/>
          <p:nvPr/>
        </p:nvSpPr>
        <p:spPr>
          <a:xfrm>
            <a:off x="4617720" y="3639312"/>
            <a:ext cx="4160520" cy="53949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4617720" y="3639312"/>
            <a:ext cx="91440" cy="5394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4754880" y="36758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76" name="Text 74"/>
          <p:cNvSpPr/>
          <p:nvPr/>
        </p:nvSpPr>
        <p:spPr>
          <a:xfrm>
            <a:off x="502920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more, ship less</a:t>
            </a:r>
            <a:endParaRPr lang="en-US" sz="1100"/>
          </a:p>
        </p:txBody>
      </p:sp>
      <p:sp>
        <p:nvSpPr>
          <p:cNvPr id="77" name="Text 75"/>
          <p:cNvSpPr/>
          <p:nvPr/>
        </p:nvSpPr>
        <p:spPr>
          <a:xfrm>
            <a:off x="4782312" y="3895344"/>
            <a:ext cx="3886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design testing cycles. Reduce initial MVP scope — fewer features, higher reliability.</a:t>
            </a:r>
            <a:endParaRPr lang="en-US" sz="800"/>
          </a:p>
        </p:txBody>
      </p:sp>
      <p:sp>
        <p:nvSpPr>
          <p:cNvPr id="78" name="Shape 76"/>
          <p:cNvSpPr/>
          <p:nvPr/>
        </p:nvSpPr>
        <p:spPr>
          <a:xfrm>
            <a:off x="365760" y="4206240"/>
            <a:ext cx="4160520" cy="539496"/>
          </a:xfrm>
          <a:prstGeom prst="rect">
            <a:avLst/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365760" y="4206240"/>
            <a:ext cx="91440" cy="5394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530352" y="4242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/>
          </a:p>
        </p:txBody>
      </p:sp>
      <p:sp>
        <p:nvSpPr>
          <p:cNvPr id="81" name="Text 79"/>
          <p:cNvSpPr/>
          <p:nvPr/>
        </p:nvSpPr>
        <p:spPr>
          <a:xfrm>
            <a:off x="822960" y="4251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750"/>
          </a:p>
        </p:txBody>
      </p:sp>
      <p:sp>
        <p:nvSpPr>
          <p:cNvPr id="82" name="Shape 80"/>
          <p:cNvSpPr/>
          <p:nvPr/>
        </p:nvSpPr>
        <p:spPr>
          <a:xfrm>
            <a:off x="4023360" y="4251960"/>
            <a:ext cx="365760" cy="164592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4023360" y="4251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750"/>
          </a:p>
        </p:txBody>
      </p:sp>
      <p:sp>
        <p:nvSpPr>
          <p:cNvPr id="84" name="Text 82"/>
          <p:cNvSpPr/>
          <p:nvPr/>
        </p:nvSpPr>
        <p:spPr>
          <a:xfrm>
            <a:off x="530352" y="44165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Freedom-to-operate + patent moat</a:t>
            </a:r>
            <a:endParaRPr lang="en-US" sz="1100"/>
          </a:p>
        </p:txBody>
      </p:sp>
      <p:sp>
        <p:nvSpPr>
          <p:cNvPr id="85" name="Text 83"/>
          <p:cNvSpPr/>
          <p:nvPr/>
        </p:nvSpPr>
        <p:spPr>
          <a:xfrm>
            <a:off x="530352" y="4572000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infringing incumbent patents. Lack of own patents = no defense.</a:t>
            </a:r>
            <a:endParaRPr lang="en-US" sz="800"/>
          </a:p>
        </p:txBody>
      </p:sp>
      <p:sp>
        <p:nvSpPr>
          <p:cNvPr id="86" name="Shape 84"/>
          <p:cNvSpPr/>
          <p:nvPr/>
        </p:nvSpPr>
        <p:spPr>
          <a:xfrm>
            <a:off x="4617720" y="4206240"/>
            <a:ext cx="4160520" cy="53949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4617720" y="4206240"/>
            <a:ext cx="91440" cy="5394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4754880" y="42428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89" name="Text 87"/>
          <p:cNvSpPr/>
          <p:nvPr/>
        </p:nvSpPr>
        <p:spPr>
          <a:xfrm>
            <a:off x="5029200" y="4242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FTO review + provisional filings</a:t>
            </a:r>
            <a:endParaRPr lang="en-US" sz="1100"/>
          </a:p>
        </p:txBody>
      </p:sp>
      <p:sp>
        <p:nvSpPr>
          <p:cNvPr id="90" name="Text 88"/>
          <p:cNvSpPr/>
          <p:nvPr/>
        </p:nvSpPr>
        <p:spPr>
          <a:xfrm>
            <a:off x="4782312" y="4462272"/>
            <a:ext cx="3886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Patent landscape review before EB2 freeze. File provisionals on agent stack + cal methods.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365760" y="4709160"/>
            <a:ext cx="73152" cy="29260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548640" y="47091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 </a:t>
            </a: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 risks (regulatory · ops · IP) and 3 MED. All actively mitigated. Risk surfacing is part of the operating cadence — not a yearly review.</a:t>
            </a:r>
            <a:endParaRPr lang="en-US" sz="900"/>
          </a:p>
        </p:txBody>
      </p:sp>
      <p:sp>
        <p:nvSpPr>
          <p:cNvPr id="94" name="Text 92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241330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astraX-HX1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Risk Retirement Status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858000" y="21945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22592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8001000" y="219456"/>
            <a:ext cx="118872" cy="1188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165592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Retired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6858000" y="4754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022592" y="457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8001000" y="475488"/>
            <a:ext cx="118872" cy="1188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165592" y="457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Risk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solidFill>
            <a:srgbClr val="071328"/>
          </a:solidFill>
          <a:ln w="12700">
            <a:solidFill>
              <a:srgbClr val="071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0624" y="9601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/>
          </a:p>
        </p:txBody>
      </p:sp>
      <p:sp>
        <p:nvSpPr>
          <p:cNvPr id="14" name="Text 12"/>
          <p:cNvSpPr/>
          <p:nvPr/>
        </p:nvSpPr>
        <p:spPr>
          <a:xfrm>
            <a:off x="768096" y="96012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Question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3419856" y="960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4590288" y="960120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Evidence / Next Milestone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365760" y="1207008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00"/>
          </a:p>
        </p:txBody>
      </p:sp>
      <p:sp>
        <p:nvSpPr>
          <p:cNvPr id="18" name="Shape 16"/>
          <p:cNvSpPr/>
          <p:nvPr/>
        </p:nvSpPr>
        <p:spPr>
          <a:xfrm>
            <a:off x="365760" y="1380744"/>
            <a:ext cx="8412480" cy="315468"/>
          </a:xfrm>
          <a:prstGeom prst="rect">
            <a:avLst/>
          </a:prstGeom>
          <a:solidFill>
            <a:srgbClr val="0D332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1380744"/>
            <a:ext cx="36576" cy="3154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8912" y="1399032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768096" y="1408176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XRF market in India and is it growing?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3456432" y="1447038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0D3320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520440" y="1483614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39312" y="145618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/>
          </a:p>
        </p:txBody>
      </p:sp>
      <p:sp>
        <p:nvSpPr>
          <p:cNvPr id="25" name="Text 23"/>
          <p:cNvSpPr/>
          <p:nvPr/>
        </p:nvSpPr>
        <p:spPr>
          <a:xfrm>
            <a:off x="4590288" y="1408176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HH-XRF units/yr validated · scrap, mining, PMI, mfg QA verticals confirmed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365760" y="1723644"/>
            <a:ext cx="8412480" cy="315468"/>
          </a:xfrm>
          <a:prstGeom prst="rect">
            <a:avLst/>
          </a:prstGeom>
          <a:solidFill>
            <a:srgbClr val="2D1F06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65760" y="1723644"/>
            <a:ext cx="36576" cy="3154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38912" y="1741932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Q1b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768096" y="1751076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fund the venture?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3456432" y="1789938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2D1F06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520440" y="182651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639312" y="179908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/>
          </a:p>
        </p:txBody>
      </p:sp>
      <p:sp>
        <p:nvSpPr>
          <p:cNvPr id="33" name="Text 31"/>
          <p:cNvSpPr/>
          <p:nvPr/>
        </p:nvSpPr>
        <p:spPr>
          <a:xfrm>
            <a:off x="4590288" y="1751076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EB1 bootstrapped by founder · Angel round actively being sought</a:t>
            </a:r>
            <a:endParaRPr lang="en-US" sz="750"/>
          </a:p>
        </p:txBody>
      </p:sp>
      <p:sp>
        <p:nvSpPr>
          <p:cNvPr id="34" name="Text 32"/>
          <p:cNvSpPr/>
          <p:nvPr/>
        </p:nvSpPr>
        <p:spPr>
          <a:xfrm>
            <a:off x="365760" y="2084832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00"/>
          </a:p>
        </p:txBody>
      </p:sp>
      <p:sp>
        <p:nvSpPr>
          <p:cNvPr id="35" name="Shape 33"/>
          <p:cNvSpPr/>
          <p:nvPr/>
        </p:nvSpPr>
        <p:spPr>
          <a:xfrm>
            <a:off x="365760" y="2258568"/>
            <a:ext cx="8412480" cy="315468"/>
          </a:xfrm>
          <a:prstGeom prst="rect">
            <a:avLst/>
          </a:prstGeom>
          <a:solidFill>
            <a:srgbClr val="0D332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65760" y="2258568"/>
            <a:ext cx="36576" cy="3154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38912" y="2276856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Q2a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768096" y="2286000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US SME + India engineering team model work?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3456432" y="2324862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0D3320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520440" y="236143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639312" y="233400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/>
          </a:p>
        </p:txBody>
      </p:sp>
      <p:sp>
        <p:nvSpPr>
          <p:cNvPr id="42" name="Text 40"/>
          <p:cNvSpPr/>
          <p:nvPr/>
        </p:nvSpPr>
        <p:spPr>
          <a:xfrm>
            <a:off x="4590288" y="2286000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delivered benchtop eval + HH design on time &amp; on cost · cross-geo model proven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365760" y="2601468"/>
            <a:ext cx="8412480" cy="315468"/>
          </a:xfrm>
          <a:prstGeom prst="rect">
            <a:avLst/>
          </a:prstGeom>
          <a:solidFill>
            <a:srgbClr val="0D332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365760" y="2601468"/>
            <a:ext cx="36576" cy="3154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38912" y="2619756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Q2b</a:t>
            </a:r>
            <a:endParaRPr lang="en-US" sz="850"/>
          </a:p>
        </p:txBody>
      </p:sp>
      <p:sp>
        <p:nvSpPr>
          <p:cNvPr id="46" name="Text 44"/>
          <p:cNvSpPr/>
          <p:nvPr/>
        </p:nvSpPr>
        <p:spPr>
          <a:xfrm>
            <a:off x="768096" y="2628900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 we build a differentiated (LEAN) HH XRF device?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456432" y="2667762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0D3320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3520440" y="270433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3639312" y="267690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/>
          </a:p>
        </p:txBody>
      </p:sp>
      <p:sp>
        <p:nvSpPr>
          <p:cNvPr id="50" name="Text 48"/>
          <p:cNvSpPr/>
          <p:nvPr/>
        </p:nvSpPr>
        <p:spPr>
          <a:xfrm>
            <a:off x="4590288" y="2628900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US SME + India Engineering reduces cost of R&amp;D · AI spec-driven dev proven as repeatable lean process</a:t>
            </a:r>
            <a:endParaRPr lang="en-US" sz="750">
              <a:latin typeface="Calibri"/>
              <a:ea typeface="Calibri"/>
              <a:cs typeface="Calibri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65760" y="2944368"/>
            <a:ext cx="8412480" cy="315468"/>
          </a:xfrm>
          <a:prstGeom prst="rect">
            <a:avLst/>
          </a:prstGeom>
          <a:solidFill>
            <a:srgbClr val="2D1F06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65760" y="2944368"/>
            <a:ext cx="36576" cy="3154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38912" y="2962656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Q2c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768096" y="2971800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 we differentiate on software / Agentic cloud?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456432" y="3010662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2D1F06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3520440" y="304723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3639312" y="301980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/>
          </a:p>
        </p:txBody>
      </p:sp>
      <p:sp>
        <p:nvSpPr>
          <p:cNvPr id="58" name="Text 56"/>
          <p:cNvSpPr/>
          <p:nvPr/>
        </p:nvSpPr>
        <p:spPr>
          <a:xfrm>
            <a:off x="4590288" y="2971800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astraX</a:t>
            </a:r>
            <a:r>
              <a:rPr lang="en-US" sz="7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Cloud Phase 1 done · </a:t>
            </a:r>
            <a:r>
              <a:rPr lang="en-US" sz="75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GradeMatch</a:t>
            </a:r>
            <a:r>
              <a:rPr lang="en-US" sz="7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UX spec complete · Lucid NDT partnership active. Lean operations TBD</a:t>
            </a:r>
            <a:endParaRPr lang="en-US" sz="750"/>
          </a:p>
        </p:txBody>
      </p:sp>
      <p:sp>
        <p:nvSpPr>
          <p:cNvPr id="59" name="Shape 57"/>
          <p:cNvSpPr/>
          <p:nvPr/>
        </p:nvSpPr>
        <p:spPr>
          <a:xfrm>
            <a:off x="365760" y="3287268"/>
            <a:ext cx="8412480" cy="315468"/>
          </a:xfrm>
          <a:prstGeom prst="rect">
            <a:avLst/>
          </a:prstGeom>
          <a:solidFill>
            <a:srgbClr val="2D1F06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365760" y="3287268"/>
            <a:ext cx="36576" cy="3154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38912" y="3305556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Q2d</a:t>
            </a:r>
            <a:endParaRPr lang="en-US" sz="850"/>
          </a:p>
        </p:txBody>
      </p:sp>
      <p:sp>
        <p:nvSpPr>
          <p:cNvPr id="62" name="Text 60"/>
          <p:cNvSpPr/>
          <p:nvPr/>
        </p:nvSpPr>
        <p:spPr>
          <a:xfrm>
            <a:off x="768096" y="3314700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 we source high-quality parts manufacturers in India (lower cost)?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456432" y="3353562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2D1F06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3520440" y="339013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3639312" y="336270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/>
          </a:p>
        </p:txBody>
      </p:sp>
      <p:sp>
        <p:nvSpPr>
          <p:cNvPr id="66" name="Text 64"/>
          <p:cNvSpPr/>
          <p:nvPr/>
        </p:nvSpPr>
        <p:spPr>
          <a:xfrm>
            <a:off x="4590288" y="3314700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search underway · key next differentiator for cost &amp; lead-time vs. imported BOM</a:t>
            </a:r>
            <a:endParaRPr lang="en-US" sz="750"/>
          </a:p>
        </p:txBody>
      </p:sp>
      <p:sp>
        <p:nvSpPr>
          <p:cNvPr id="67" name="Shape 65"/>
          <p:cNvSpPr/>
          <p:nvPr/>
        </p:nvSpPr>
        <p:spPr>
          <a:xfrm>
            <a:off x="365760" y="3630168"/>
            <a:ext cx="8412480" cy="315468"/>
          </a:xfrm>
          <a:prstGeom prst="rect">
            <a:avLst/>
          </a:prstGeom>
          <a:solidFill>
            <a:srgbClr val="0D1F3A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365760" y="3630168"/>
            <a:ext cx="36576" cy="3154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438912" y="3648456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Q2e</a:t>
            </a:r>
            <a:endParaRPr lang="en-US" sz="850"/>
          </a:p>
        </p:txBody>
      </p:sp>
      <p:sp>
        <p:nvSpPr>
          <p:cNvPr id="70" name="Text 68"/>
          <p:cNvSpPr/>
          <p:nvPr/>
        </p:nvSpPr>
        <p:spPr>
          <a:xfrm>
            <a:off x="768096" y="3657600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achieve ~30% gross margin at 500-unit volume?</a:t>
            </a:r>
            <a:endParaRPr lang="en-US" sz="850"/>
          </a:p>
        </p:txBody>
      </p:sp>
      <p:sp>
        <p:nvSpPr>
          <p:cNvPr id="71" name="Shape 69"/>
          <p:cNvSpPr/>
          <p:nvPr/>
        </p:nvSpPr>
        <p:spPr>
          <a:xfrm>
            <a:off x="3456432" y="3696462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0D1F3A"/>
          </a:solidFill>
          <a:ln w="1524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3520440" y="3733038"/>
            <a:ext cx="100584" cy="1005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3639312" y="370560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Retired</a:t>
            </a:r>
            <a:endParaRPr lang="en-US" sz="700"/>
          </a:p>
        </p:txBody>
      </p:sp>
      <p:sp>
        <p:nvSpPr>
          <p:cNvPr id="74" name="Text 72"/>
          <p:cNvSpPr/>
          <p:nvPr/>
        </p:nvSpPr>
        <p:spPr>
          <a:xfrm>
            <a:off x="4590288" y="3657600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 GM/device feasibility confirmed · EB1 BOM refinement underway to validate at volume</a:t>
            </a:r>
            <a:endParaRPr lang="en-US" sz="750"/>
          </a:p>
        </p:txBody>
      </p:sp>
      <p:sp>
        <p:nvSpPr>
          <p:cNvPr id="75" name="Text 73"/>
          <p:cNvSpPr/>
          <p:nvPr/>
        </p:nvSpPr>
        <p:spPr>
          <a:xfrm>
            <a:off x="365760" y="3991356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700"/>
          </a:p>
        </p:txBody>
      </p:sp>
      <p:sp>
        <p:nvSpPr>
          <p:cNvPr id="76" name="Shape 74"/>
          <p:cNvSpPr/>
          <p:nvPr/>
        </p:nvSpPr>
        <p:spPr>
          <a:xfrm>
            <a:off x="365760" y="4165092"/>
            <a:ext cx="8412480" cy="315468"/>
          </a:xfrm>
          <a:prstGeom prst="rect">
            <a:avLst/>
          </a:prstGeom>
          <a:solidFill>
            <a:srgbClr val="141C2A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365760" y="4165092"/>
            <a:ext cx="36576" cy="3154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438912" y="4183380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/>
          </a:p>
        </p:txBody>
      </p:sp>
      <p:sp>
        <p:nvSpPr>
          <p:cNvPr id="79" name="Text 77"/>
          <p:cNvSpPr/>
          <p:nvPr/>
        </p:nvSpPr>
        <p:spPr>
          <a:xfrm>
            <a:off x="768096" y="4192524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 we sell initial devices/GTM?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456432" y="4231386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141C2A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3520440" y="4267962"/>
            <a:ext cx="100584" cy="1005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3639312" y="424053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Risk</a:t>
            </a:r>
            <a:endParaRPr lang="en-US" sz="700"/>
          </a:p>
        </p:txBody>
      </p:sp>
      <p:sp>
        <p:nvSpPr>
          <p:cNvPr id="83" name="Text 81"/>
          <p:cNvSpPr/>
          <p:nvPr/>
        </p:nvSpPr>
        <p:spPr>
          <a:xfrm>
            <a:off x="4590288" y="4192524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engage pan-India distributor Aug 2026 · gated on EB1 HH first-light</a:t>
            </a:r>
            <a:endParaRPr lang="en-US" sz="750"/>
          </a:p>
        </p:txBody>
      </p:sp>
      <p:sp>
        <p:nvSpPr>
          <p:cNvPr id="84" name="Text 82"/>
          <p:cNvSpPr/>
          <p:nvPr/>
        </p:nvSpPr>
        <p:spPr>
          <a:xfrm>
            <a:off x="365760" y="4526280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00"/>
          </a:p>
        </p:txBody>
      </p:sp>
      <p:sp>
        <p:nvSpPr>
          <p:cNvPr id="85" name="Shape 83"/>
          <p:cNvSpPr/>
          <p:nvPr/>
        </p:nvSpPr>
        <p:spPr>
          <a:xfrm>
            <a:off x="365760" y="4700016"/>
            <a:ext cx="8412480" cy="315468"/>
          </a:xfrm>
          <a:prstGeom prst="rect">
            <a:avLst/>
          </a:prstGeom>
          <a:solidFill>
            <a:srgbClr val="141C2A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365760" y="4700016"/>
            <a:ext cx="36576" cy="3154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438912" y="4718304"/>
            <a:ext cx="2560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50"/>
          </a:p>
        </p:txBody>
      </p:sp>
      <p:sp>
        <p:nvSpPr>
          <p:cNvPr id="88" name="Text 86"/>
          <p:cNvSpPr/>
          <p:nvPr/>
        </p:nvSpPr>
        <p:spPr>
          <a:xfrm>
            <a:off x="768096" y="4727448"/>
            <a:ext cx="2560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scale the business?</a:t>
            </a:r>
            <a:endParaRPr lang="en-US" sz="850"/>
          </a:p>
        </p:txBody>
      </p:sp>
      <p:sp>
        <p:nvSpPr>
          <p:cNvPr id="89" name="Shape 87"/>
          <p:cNvSpPr/>
          <p:nvPr/>
        </p:nvSpPr>
        <p:spPr>
          <a:xfrm>
            <a:off x="3456432" y="4766310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141C2A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3520440" y="4802886"/>
            <a:ext cx="100584" cy="1005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/>
          <p:nvPr/>
        </p:nvSpPr>
        <p:spPr>
          <a:xfrm>
            <a:off x="3639312" y="477545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Risk</a:t>
            </a:r>
            <a:endParaRPr lang="en-US" sz="700"/>
          </a:p>
        </p:txBody>
      </p:sp>
      <p:sp>
        <p:nvSpPr>
          <p:cNvPr id="92" name="Text 90"/>
          <p:cNvSpPr/>
          <p:nvPr/>
        </p:nvSpPr>
        <p:spPr>
          <a:xfrm>
            <a:off x="4590288" y="4727448"/>
            <a:ext cx="41513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channel strategy, mfg scale-up, CE/FCC/radiation cert, cloud revenue model</a:t>
            </a:r>
            <a:endParaRPr lang="en-US" sz="750"/>
          </a:p>
        </p:txBody>
      </p:sp>
      <p:sp>
        <p:nvSpPr>
          <p:cNvPr id="93" name="Text 91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B6D8E0"/>
                </a:solidFill>
                <a:latin typeface="Calibri"/>
              </a:rPr>
              <a:t>Astra Business System  ·  India Beachhead  ·  World TAM</a:t>
            </a:r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90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astraX is a platform for AI agents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>
          <a:xfrm>
            <a:off x="7269480" y="91440"/>
            <a:ext cx="1645920" cy="38404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269480" y="91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</a:rPr>
              <a:t>astraX Agent Platform</a:t>
            </a:r>
            <a:endParaRPr lang="en-US" sz="800"/>
          </a:p>
          <a:p>
            <a:pPr marL="0" indent="0" algn="ctr">
              <a:buNone/>
            </a:pPr>
            <a:r>
              <a:rPr lang="en-US" sz="1000" b="1" kern="0" spc="400">
                <a:solidFill>
                  <a:srgbClr val="FFFFFF"/>
                </a:solidFill>
              </a:rPr>
              <a:t>STRATEGY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228600" y="49377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Hardware is the wedge. The agent fleet is the moat. </a:t>
            </a:r>
            <a:r>
              <a:rPr lang="en-US" sz="1050" b="1" i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Fleet grows overtime.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240280" cy="315468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54864" cy="3154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93192" y="896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FED7AA"/>
                </a:solidFill>
              </a:rPr>
              <a:t>THE WEDGE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393192" y="1078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astraX-HX1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393192" y="14447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D4ECF0"/>
                </a:solidFill>
              </a:rPr>
              <a:t>Handheld XRF analyzer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93192" y="1664208"/>
            <a:ext cx="1911096" cy="0"/>
          </a:xfrm>
          <a:prstGeom prst="line">
            <a:avLst/>
          </a:prstGeom>
          <a:noFill/>
          <a:ln w="9525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3192" y="17190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200">
                <a:solidFill>
                  <a:srgbClr val="D4ECF0"/>
                </a:solidFill>
              </a:rPr>
              <a:t>Table stakes — must match incumbents, </a:t>
            </a:r>
            <a:r>
              <a:rPr lang="en-US" sz="850" b="1" u="sng" kern="0" spc="200">
                <a:solidFill>
                  <a:srgbClr val="D4ECF0"/>
                </a:solidFill>
              </a:rPr>
              <a:t>build worlds best XRF HH</a:t>
            </a:r>
            <a:endParaRPr lang="en-US" sz="850" u="sng"/>
          </a:p>
        </p:txBody>
      </p:sp>
      <p:sp>
        <p:nvSpPr>
          <p:cNvPr id="13" name="Text 11"/>
          <p:cNvSpPr/>
          <p:nvPr/>
        </p:nvSpPr>
        <p:spPr>
          <a:xfrm>
            <a:off x="393192" y="1956816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>
                <a:solidFill>
                  <a:srgbClr val="FFFFFF"/>
                </a:solidFill>
              </a:rPr>
              <a:t>Quant accuracy on common alloys</a:t>
            </a:r>
            <a:endParaRPr lang="en-US" sz="9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>
                <a:solidFill>
                  <a:srgbClr val="FFFFFF"/>
                </a:solidFill>
              </a:rPr>
              <a:t>≤145 eV FWHM @ Mn Kα</a:t>
            </a:r>
            <a:endParaRPr lang="en-US" sz="9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>
                <a:solidFill>
                  <a:srgbClr val="FFFFFF"/>
                </a:solidFill>
              </a:rPr>
              <a:t>&lt;3s measurement, 8+ hr battery</a:t>
            </a:r>
            <a:endParaRPr lang="en-US" sz="9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>
                <a:solidFill>
                  <a:srgbClr val="FFFFFF"/>
                </a:solidFill>
              </a:rPr>
              <a:t>&lt;1.5 kg, IP54, drop-rated</a:t>
            </a:r>
            <a:endParaRPr lang="en-US" sz="9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>
                <a:solidFill>
                  <a:srgbClr val="FFFFFF"/>
                </a:solidFill>
              </a:rPr>
              <a:t>CE/FCC/UL/radiation compliance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93192" y="3291840"/>
            <a:ext cx="1911096" cy="530352"/>
          </a:xfrm>
          <a:prstGeom prst="rect">
            <a:avLst/>
          </a:prstGeom>
          <a:solidFill>
            <a:srgbClr val="0A4954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Hardware wins the demo.</a:t>
            </a:r>
            <a:endParaRPr lang="en-US" sz="950"/>
          </a:p>
          <a:p>
            <a:pPr marL="0" indent="0" algn="ctr">
              <a:buNone/>
            </a:pPr>
            <a:r>
              <a:rPr lang="en-US" sz="950" i="1">
                <a:solidFill>
                  <a:srgbClr val="D4ECF0"/>
                </a:solidFill>
              </a:rPr>
              <a:t>Agents win the renewal.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2606040" y="804672"/>
            <a:ext cx="6309360" cy="182880"/>
          </a:xfrm>
          <a:prstGeom prst="rect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97480" y="80467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A4954"/>
                </a:solidFill>
              </a:rPr>
              <a:t>↑  NEW REVENUE CHANNELS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606040" y="2340864"/>
            <a:ext cx="6309360" cy="182880"/>
          </a:xfrm>
          <a:prstGeom prst="rect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97480" y="2340864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A4954"/>
                </a:solidFill>
              </a:rPr>
              <a:t>↓  OPERATIONAL EFFICIENCY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606040" y="1060704"/>
            <a:ext cx="2042160" cy="1234440"/>
          </a:xfrm>
          <a:prstGeom prst="rect">
            <a:avLst/>
          </a:prstGeom>
          <a:solidFill>
            <a:srgbClr val="FFF4EC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606040" y="1060704"/>
            <a:ext cx="204216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697480" y="1179576"/>
            <a:ext cx="274320" cy="27432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1234440"/>
            <a:ext cx="164592" cy="1645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008376" y="1179576"/>
            <a:ext cx="158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C2410C"/>
                </a:solidFill>
              </a:rPr>
              <a:t>★ LEAD MOAT · RECYCLING</a:t>
            </a:r>
            <a:endParaRPr lang="en-US" sz="680"/>
          </a:p>
        </p:txBody>
      </p:sp>
      <p:sp>
        <p:nvSpPr>
          <p:cNvPr id="25" name="Text 22"/>
          <p:cNvSpPr/>
          <p:nvPr/>
        </p:nvSpPr>
        <p:spPr>
          <a:xfrm>
            <a:off x="2697480" y="1481328"/>
            <a:ext cx="185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ScrapSense Agent</a:t>
            </a:r>
            <a:endParaRPr lang="en-US" sz="1250"/>
          </a:p>
        </p:txBody>
      </p:sp>
      <p:sp>
        <p:nvSpPr>
          <p:cNvPr id="26" name="Text 23"/>
          <p:cNvSpPr/>
          <p:nvPr/>
        </p:nvSpPr>
        <p:spPr>
          <a:xfrm>
            <a:off x="2697480" y="1755648"/>
            <a:ext cx="185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20">
                <a:solidFill>
                  <a:srgbClr val="4A5C6E"/>
                </a:solidFill>
              </a:rPr>
              <a:t>Reads each scrap load and closes the loop with weighbridge, inventory, and yard workflow. The analyzer becomes a node in the yard's daily ops.</a:t>
            </a:r>
            <a:endParaRPr lang="en-US" sz="820"/>
          </a:p>
        </p:txBody>
      </p:sp>
      <p:sp>
        <p:nvSpPr>
          <p:cNvPr id="27" name="Shape 24"/>
          <p:cNvSpPr/>
          <p:nvPr/>
        </p:nvSpPr>
        <p:spPr>
          <a:xfrm>
            <a:off x="4739640" y="1060704"/>
            <a:ext cx="2042160" cy="1234440"/>
          </a:xfrm>
          <a:prstGeom prst="rect">
            <a:avLst/>
          </a:prstGeom>
          <a:solidFill>
            <a:srgbClr val="FFF4EC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4739640" y="1060704"/>
            <a:ext cx="204216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4831080" y="1179576"/>
            <a:ext cx="274320" cy="27432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944" y="1234440"/>
            <a:ext cx="164592" cy="16459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41976" y="1179576"/>
            <a:ext cx="158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C2410C"/>
                </a:solidFill>
              </a:rPr>
              <a:t>★ LEAD MOAT · MFG QC</a:t>
            </a:r>
            <a:endParaRPr lang="en-US" sz="680"/>
          </a:p>
        </p:txBody>
      </p:sp>
      <p:sp>
        <p:nvSpPr>
          <p:cNvPr id="32" name="Text 28"/>
          <p:cNvSpPr/>
          <p:nvPr/>
        </p:nvSpPr>
        <p:spPr>
          <a:xfrm>
            <a:off x="4831080" y="1481328"/>
            <a:ext cx="185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QC Sentinel Agent</a:t>
            </a:r>
            <a:endParaRPr lang="en-US" sz="1250"/>
          </a:p>
        </p:txBody>
      </p:sp>
      <p:sp>
        <p:nvSpPr>
          <p:cNvPr id="33" name="Text 29"/>
          <p:cNvSpPr/>
          <p:nvPr/>
        </p:nvSpPr>
        <p:spPr>
          <a:xfrm>
            <a:off x="4831080" y="1755648"/>
            <a:ext cx="185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00">
                <a:solidFill>
                  <a:srgbClr val="4A5C6E"/>
                </a:solidFill>
              </a:rPr>
              <a:t>Watches SPC limits, integrates with LIMS/MES, writes the audit trail. Sits inside the customer's quality system</a:t>
            </a:r>
            <a:endParaRPr lang="en-US" sz="800">
              <a:solidFill>
                <a:srgbClr val="4A5C6E"/>
              </a:solidFill>
              <a:ea typeface="Calibri"/>
              <a:cs typeface="Calibri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6873240" y="1060704"/>
            <a:ext cx="2042160" cy="12344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6873240" y="1060704"/>
            <a:ext cx="2042160" cy="4572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2"/>
          <p:cNvSpPr/>
          <p:nvPr/>
        </p:nvSpPr>
        <p:spPr>
          <a:xfrm>
            <a:off x="6964680" y="1179576"/>
            <a:ext cx="274320" cy="274320"/>
          </a:xfrm>
          <a:prstGeom prst="ellipse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544" y="1234440"/>
            <a:ext cx="164592" cy="16459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275576" y="1179576"/>
            <a:ext cx="158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0A4954"/>
                </a:solidFill>
              </a:rPr>
              <a:t>CUSTOMER INSIGHT</a:t>
            </a:r>
            <a:endParaRPr lang="en-US" sz="680"/>
          </a:p>
        </p:txBody>
      </p:sp>
      <p:sp>
        <p:nvSpPr>
          <p:cNvPr id="39" name="Text 34"/>
          <p:cNvSpPr/>
          <p:nvPr/>
        </p:nvSpPr>
        <p:spPr>
          <a:xfrm>
            <a:off x="6964680" y="1481328"/>
            <a:ext cx="185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Insight Agent</a:t>
            </a:r>
            <a:endParaRPr lang="en-US" sz="1250"/>
          </a:p>
        </p:txBody>
      </p:sp>
      <p:sp>
        <p:nvSpPr>
          <p:cNvPr id="40" name="Text 35"/>
          <p:cNvSpPr/>
          <p:nvPr/>
        </p:nvSpPr>
        <p:spPr>
          <a:xfrm>
            <a:off x="6964680" y="1755648"/>
            <a:ext cx="185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20">
                <a:solidFill>
                  <a:srgbClr val="4A5C6E"/>
                </a:solidFill>
              </a:rPr>
              <a:t>Answers questions across measurement history in plain language. Trends, anomalies, batch patterns surfaced on demand. Premium upsell SKU.</a:t>
            </a:r>
            <a:endParaRPr lang="en-US" sz="820"/>
          </a:p>
        </p:txBody>
      </p:sp>
      <p:sp>
        <p:nvSpPr>
          <p:cNvPr id="41" name="Shape 36"/>
          <p:cNvSpPr/>
          <p:nvPr/>
        </p:nvSpPr>
        <p:spPr>
          <a:xfrm>
            <a:off x="2606040" y="2578608"/>
            <a:ext cx="1522476" cy="12344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7"/>
          <p:cNvSpPr/>
          <p:nvPr/>
        </p:nvSpPr>
        <p:spPr>
          <a:xfrm>
            <a:off x="2606040" y="2578608"/>
            <a:ext cx="1522476" cy="4572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8"/>
          <p:cNvSpPr/>
          <p:nvPr/>
        </p:nvSpPr>
        <p:spPr>
          <a:xfrm>
            <a:off x="2697480" y="2697480"/>
            <a:ext cx="274320" cy="274320"/>
          </a:xfrm>
          <a:prstGeom prst="ellipse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344" y="2752344"/>
            <a:ext cx="164592" cy="16459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3008376" y="2697480"/>
            <a:ext cx="10652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0A4954"/>
                </a:solidFill>
              </a:rPr>
              <a:t>AI WORKFLOWS</a:t>
            </a:r>
            <a:endParaRPr lang="en-US" sz="680"/>
          </a:p>
        </p:txBody>
      </p:sp>
      <p:sp>
        <p:nvSpPr>
          <p:cNvPr id="46" name="Text 40"/>
          <p:cNvSpPr/>
          <p:nvPr/>
        </p:nvSpPr>
        <p:spPr>
          <a:xfrm>
            <a:off x="2697480" y="2999232"/>
            <a:ext cx="1339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Calibration Agent</a:t>
            </a:r>
            <a:endParaRPr lang="en-US" sz="1250"/>
          </a:p>
        </p:txBody>
      </p:sp>
      <p:sp>
        <p:nvSpPr>
          <p:cNvPr id="47" name="Text 41"/>
          <p:cNvSpPr/>
          <p:nvPr/>
        </p:nvSpPr>
        <p:spPr>
          <a:xfrm>
            <a:off x="2697480" y="3273552"/>
            <a:ext cx="13395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800">
                <a:solidFill>
                  <a:srgbClr val="4A5C6E"/>
                </a:solidFill>
              </a:rPr>
              <a:t>AI-authored methods. Customers build their own AI authored methods — no OEM round-trips.</a:t>
            </a:r>
            <a:endParaRPr lang="en-US" sz="800">
              <a:ea typeface="Calibri"/>
              <a:cs typeface="Calibri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4201668" y="2578608"/>
            <a:ext cx="1522476" cy="12344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3"/>
          <p:cNvSpPr/>
          <p:nvPr/>
        </p:nvSpPr>
        <p:spPr>
          <a:xfrm>
            <a:off x="4201668" y="2578608"/>
            <a:ext cx="1522476" cy="4572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4"/>
          <p:cNvSpPr/>
          <p:nvPr/>
        </p:nvSpPr>
        <p:spPr>
          <a:xfrm>
            <a:off x="4293108" y="2697480"/>
            <a:ext cx="274320" cy="274320"/>
          </a:xfrm>
          <a:prstGeom prst="ellipse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972" y="2752344"/>
            <a:ext cx="164592" cy="16459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4604004" y="2697480"/>
            <a:ext cx="10652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0A4954"/>
                </a:solidFill>
              </a:rPr>
              <a:t>SALES EFFICIENCY</a:t>
            </a:r>
            <a:endParaRPr lang="en-US" sz="680"/>
          </a:p>
        </p:txBody>
      </p:sp>
      <p:sp>
        <p:nvSpPr>
          <p:cNvPr id="53" name="Text 46"/>
          <p:cNvSpPr/>
          <p:nvPr/>
        </p:nvSpPr>
        <p:spPr>
          <a:xfrm>
            <a:off x="4293108" y="2999232"/>
            <a:ext cx="1339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Concierge Agent</a:t>
            </a:r>
            <a:endParaRPr lang="en-US" sz="1250"/>
          </a:p>
        </p:txBody>
      </p:sp>
      <p:sp>
        <p:nvSpPr>
          <p:cNvPr id="54" name="Text 47"/>
          <p:cNvSpPr/>
          <p:nvPr/>
        </p:nvSpPr>
        <p:spPr>
          <a:xfrm>
            <a:off x="4293108" y="3273552"/>
            <a:ext cx="13395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20">
                <a:solidFill>
                  <a:srgbClr val="4A5C6E"/>
                </a:solidFill>
              </a:rPr>
              <a:t>Configurator, quote, paperwork, payment, onboarding. Compresses sales cycle from weeks to days; lowers CAC.</a:t>
            </a:r>
            <a:endParaRPr lang="en-US" sz="820"/>
          </a:p>
        </p:txBody>
      </p:sp>
      <p:sp>
        <p:nvSpPr>
          <p:cNvPr id="55" name="Shape 48"/>
          <p:cNvSpPr/>
          <p:nvPr/>
        </p:nvSpPr>
        <p:spPr>
          <a:xfrm>
            <a:off x="5797296" y="2578608"/>
            <a:ext cx="1522476" cy="12344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49"/>
          <p:cNvSpPr/>
          <p:nvPr/>
        </p:nvSpPr>
        <p:spPr>
          <a:xfrm>
            <a:off x="5797296" y="2578608"/>
            <a:ext cx="1522476" cy="4572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0"/>
          <p:cNvSpPr/>
          <p:nvPr/>
        </p:nvSpPr>
        <p:spPr>
          <a:xfrm>
            <a:off x="5888736" y="2697480"/>
            <a:ext cx="274320" cy="274320"/>
          </a:xfrm>
          <a:prstGeom prst="ellipse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752344"/>
            <a:ext cx="164592" cy="164592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6199632" y="2697480"/>
            <a:ext cx="10652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0A4954"/>
                </a:solidFill>
              </a:rPr>
              <a:t>DEVICE MGMT</a:t>
            </a:r>
            <a:endParaRPr lang="en-US" sz="680"/>
          </a:p>
        </p:txBody>
      </p:sp>
      <p:sp>
        <p:nvSpPr>
          <p:cNvPr id="60" name="Text 52"/>
          <p:cNvSpPr/>
          <p:nvPr/>
        </p:nvSpPr>
        <p:spPr>
          <a:xfrm>
            <a:off x="5888736" y="2999232"/>
            <a:ext cx="1339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Fleet Agent</a:t>
            </a:r>
            <a:endParaRPr lang="en-US" sz="1250"/>
          </a:p>
        </p:txBody>
      </p:sp>
      <p:sp>
        <p:nvSpPr>
          <p:cNvPr id="61" name="Text 53"/>
          <p:cNvSpPr/>
          <p:nvPr/>
        </p:nvSpPr>
        <p:spPr>
          <a:xfrm>
            <a:off x="5888736" y="3273552"/>
            <a:ext cx="13395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800">
                <a:solidFill>
                  <a:srgbClr val="4A5C6E"/>
                </a:solidFill>
              </a:rPr>
              <a:t>Cloud digital twin of every analyzer. Config, firmware, usage, geo-state in one pane. Helps improve </a:t>
            </a:r>
            <a:r>
              <a:rPr lang="en-US" sz="800" err="1">
                <a:solidFill>
                  <a:srgbClr val="4A5C6E"/>
                </a:solidFill>
              </a:rPr>
              <a:t>astraX</a:t>
            </a:r>
            <a:r>
              <a:rPr lang="en-US" sz="800">
                <a:solidFill>
                  <a:srgbClr val="4A5C6E"/>
                </a:solidFill>
              </a:rPr>
              <a:t> solution</a:t>
            </a:r>
            <a:endParaRPr lang="en-US" sz="800">
              <a:solidFill>
                <a:srgbClr val="4A5C6E"/>
              </a:solidFill>
              <a:ea typeface="Calibri"/>
              <a:cs typeface="Calibri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7392924" y="2578608"/>
            <a:ext cx="1522476" cy="12344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55"/>
          <p:cNvSpPr/>
          <p:nvPr/>
        </p:nvSpPr>
        <p:spPr>
          <a:xfrm>
            <a:off x="7392924" y="2578608"/>
            <a:ext cx="1522476" cy="45720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56"/>
          <p:cNvSpPr/>
          <p:nvPr/>
        </p:nvSpPr>
        <p:spPr>
          <a:xfrm>
            <a:off x="7484364" y="2697480"/>
            <a:ext cx="274320" cy="274320"/>
          </a:xfrm>
          <a:prstGeom prst="ellipse">
            <a:avLst/>
          </a:prstGeom>
          <a:solidFill>
            <a:srgbClr val="D4ECF0"/>
          </a:solidFill>
          <a:ln w="12700">
            <a:solidFill>
              <a:srgbClr val="D4EC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9228" y="2752344"/>
            <a:ext cx="164592" cy="164592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7795260" y="2697480"/>
            <a:ext cx="10652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50">
                <a:solidFill>
                  <a:srgbClr val="0A4954"/>
                </a:solidFill>
              </a:rPr>
              <a:t>UPTIME</a:t>
            </a:r>
            <a:endParaRPr lang="en-US" sz="680"/>
          </a:p>
        </p:txBody>
      </p:sp>
      <p:sp>
        <p:nvSpPr>
          <p:cNvPr id="67" name="Text 58"/>
          <p:cNvSpPr/>
          <p:nvPr/>
        </p:nvSpPr>
        <p:spPr>
          <a:xfrm>
            <a:off x="7484364" y="2999232"/>
            <a:ext cx="1339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1F2E"/>
                </a:solidFill>
              </a:rPr>
              <a:t>Service Agent</a:t>
            </a:r>
            <a:endParaRPr lang="en-US" sz="1250"/>
          </a:p>
        </p:txBody>
      </p:sp>
      <p:sp>
        <p:nvSpPr>
          <p:cNvPr id="68" name="Text 59"/>
          <p:cNvSpPr/>
          <p:nvPr/>
        </p:nvSpPr>
        <p:spPr>
          <a:xfrm>
            <a:off x="7484364" y="3273552"/>
            <a:ext cx="13395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800">
                <a:solidFill>
                  <a:srgbClr val="4A5C6E"/>
                </a:solidFill>
              </a:rPr>
              <a:t>Ticket automation, Predictive service alerts before failure. Minimize downtime risk.</a:t>
            </a:r>
            <a:endParaRPr lang="en-US" sz="800"/>
          </a:p>
        </p:txBody>
      </p:sp>
      <p:sp>
        <p:nvSpPr>
          <p:cNvPr id="69" name="Shape 60"/>
          <p:cNvSpPr/>
          <p:nvPr/>
        </p:nvSpPr>
        <p:spPr>
          <a:xfrm>
            <a:off x="2606040" y="4023360"/>
            <a:ext cx="6309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4A5C6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0" name="Shape 61"/>
          <p:cNvSpPr/>
          <p:nvPr/>
        </p:nvSpPr>
        <p:spPr>
          <a:xfrm>
            <a:off x="2697480" y="4087368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4056" y="4123944"/>
            <a:ext cx="128016" cy="128016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2953512" y="4023360"/>
            <a:ext cx="5888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</a:rPr>
              <a:t>More agents shipping  </a:t>
            </a:r>
            <a:r>
              <a:rPr lang="en-US" sz="950" i="1">
                <a:solidFill>
                  <a:srgbClr val="4A5C6E"/>
                </a:solidFill>
              </a:rPr>
              <a:t>Compliance · Training · Audit · Procurement · Method Migration · …</a:t>
            </a:r>
            <a:endParaRPr lang="en-US" sz="1000"/>
          </a:p>
        </p:txBody>
      </p:sp>
      <p:sp>
        <p:nvSpPr>
          <p:cNvPr id="73" name="Text 63"/>
          <p:cNvSpPr/>
          <p:nvPr/>
        </p:nvSpPr>
        <p:spPr>
          <a:xfrm>
            <a:off x="228600" y="4462272"/>
            <a:ext cx="280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A4954"/>
                </a:solidFill>
              </a:rPr>
              <a:t>INCUMBENT WEAKNESS</a:t>
            </a:r>
            <a:endParaRPr lang="en-US" sz="900"/>
          </a:p>
        </p:txBody>
      </p:sp>
      <p:sp>
        <p:nvSpPr>
          <p:cNvPr id="74" name="Text 64"/>
          <p:cNvSpPr/>
          <p:nvPr/>
        </p:nvSpPr>
        <p:spPr>
          <a:xfrm>
            <a:off x="228600" y="464515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>
                <a:solidFill>
                  <a:srgbClr val="4A5C6E"/>
                </a:solidFill>
              </a:rPr>
              <a:t>Deep entrenchment in legacy operations — ERP, manufacturing, sales, service. Pivoting to an agent-first model takes years, not quarters.</a:t>
            </a:r>
            <a:endParaRPr lang="en-US" sz="850"/>
          </a:p>
        </p:txBody>
      </p:sp>
      <p:sp>
        <p:nvSpPr>
          <p:cNvPr id="75" name="Text 65"/>
          <p:cNvSpPr/>
          <p:nvPr/>
        </p:nvSpPr>
        <p:spPr>
          <a:xfrm>
            <a:off x="3124200" y="4462272"/>
            <a:ext cx="280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A4954"/>
                </a:solidFill>
              </a:rPr>
              <a:t>STARTUP LEVERAGE</a:t>
            </a:r>
            <a:endParaRPr lang="en-US" sz="900"/>
          </a:p>
        </p:txBody>
      </p:sp>
      <p:sp>
        <p:nvSpPr>
          <p:cNvPr id="76" name="Text 66"/>
          <p:cNvSpPr/>
          <p:nvPr/>
        </p:nvSpPr>
        <p:spPr>
          <a:xfrm>
            <a:off x="3124200" y="464515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A5C6E"/>
                </a:solidFill>
              </a:rPr>
              <a:t>LLM-assisted dev makes a multi-agent stack tractable for a small team. Incumbents can't reorg fast enough.</a:t>
            </a:r>
            <a:endParaRPr lang="en-US" sz="850"/>
          </a:p>
        </p:txBody>
      </p:sp>
      <p:sp>
        <p:nvSpPr>
          <p:cNvPr id="77" name="Text 67"/>
          <p:cNvSpPr/>
          <p:nvPr/>
        </p:nvSpPr>
        <p:spPr>
          <a:xfrm>
            <a:off x="6019800" y="4462272"/>
            <a:ext cx="280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A4954"/>
                </a:solidFill>
              </a:rPr>
              <a:t>LEAD VERTICALS</a:t>
            </a:r>
            <a:endParaRPr lang="en-US" sz="900"/>
          </a:p>
        </p:txBody>
      </p:sp>
      <p:sp>
        <p:nvSpPr>
          <p:cNvPr id="78" name="Text 68"/>
          <p:cNvSpPr/>
          <p:nvPr/>
        </p:nvSpPr>
        <p:spPr>
          <a:xfrm>
            <a:off x="6019800" y="4645152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err="1">
                <a:solidFill>
                  <a:srgbClr val="4A5C6E"/>
                </a:solidFill>
              </a:rPr>
              <a:t>ScrapSense</a:t>
            </a:r>
            <a:r>
              <a:rPr lang="en-US" sz="850" i="1">
                <a:solidFill>
                  <a:srgbClr val="4A5C6E"/>
                </a:solidFill>
              </a:rPr>
              <a:t> for recycling and QC Sentinel for manufacturing QC — left and right of the device, with willingness to pay?</a:t>
            </a:r>
            <a:endParaRPr lang="en-US" sz="850"/>
          </a:p>
        </p:txBody>
      </p:sp>
      <p:sp>
        <p:nvSpPr>
          <p:cNvPr id="79" name="TextBox 78"/>
          <p:cNvSpPr txBox="1"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HARDWARE FIRST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3931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HW + SW solution company — more enduring, harder to replicate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7178040" y="228600"/>
            <a:ext cx="1691640" cy="50292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78040" y="256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78040" y="420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 + SW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365760" y="7589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is enduring and defensible. SW alone is replicable. The combination is the competitive edge against incumbents.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WHY THE HW + SW COMBINATION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362456"/>
            <a:ext cx="5029200" cy="20117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329184" cy="329184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22960" y="1527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HW businesses in general are more enduring</a:t>
            </a:r>
            <a:endParaRPr lang="en-US" sz="1200"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185623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Hardware is hard, sticky once designed in — long replacement cycles, switching costs, </a:t>
            </a:r>
            <a:r>
              <a:rPr lang="en-US" sz="95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regulatory inertia. SW alone is replicable, especially with new Agent AI tools; Pure SaaS companies will not </a:t>
            </a:r>
            <a:r>
              <a:rPr lang="en-US" sz="95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disrupt Device business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2975" y="3959733"/>
            <a:ext cx="329184" cy="329184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99778" y="39597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</a:rPr>
              <a:t>3</a:t>
            </a:r>
            <a:endParaRPr lang="en-US" sz="12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6978" y="3914013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HW + SW is differentiating from legacy HW businesses</a:t>
            </a:r>
            <a:endParaRPr lang="en-US" sz="1200" b="1">
              <a:solidFill>
                <a:srgbClr val="0F1F2E"/>
              </a:solidFill>
              <a:latin typeface="Georgi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6978" y="4243197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HW + SW(AI enabled </a:t>
            </a:r>
            <a:r>
              <a:rPr lang="en-US" sz="100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values) together</a:t>
            </a:r>
            <a:r>
              <a:rPr lang="en-US" sz="100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 is the moat against pure-hardware incumbents. </a:t>
            </a:r>
            <a:endParaRPr lang="en-US" sz="950" dirty="0">
              <a:solidFill>
                <a:srgbClr val="4A5C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2974" y="2747609"/>
            <a:ext cx="329184" cy="329184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92974" y="27476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1" name="Text 19"/>
          <p:cNvSpPr/>
          <p:nvPr/>
        </p:nvSpPr>
        <p:spPr>
          <a:xfrm>
            <a:off x="850174" y="270188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AI LEAN + India talent - timing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50174" y="3031073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Tech categories migrate from high-cost West to lower-cost geographies. 3 decades of India engineering centers built real depth across SE, ME, EE, supply chain, </a:t>
            </a:r>
            <a:r>
              <a:rPr lang="en-US" sz="950" dirty="0" err="1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mfg</a:t>
            </a:r>
            <a:r>
              <a:rPr lang="en-US" sz="950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, etc. With AI now is a special moment to go LEANER — question is when and by whom, not whether.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23560" y="11430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VALIDATION EXPERIMENTS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623560" y="1362456"/>
            <a:ext cx="3246120" cy="2011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623560" y="1527048"/>
            <a:ext cx="3246120" cy="14630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623560" y="1527048"/>
            <a:ext cx="73152" cy="1463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806440" y="16184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5806440" y="18196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Sustainable India-centric AI team</a:t>
            </a:r>
            <a:endParaRPr lang="en-US" sz="1300">
              <a:latin typeface="Georgi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06440" y="216712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80644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Showing strong promise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5806440" y="24871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spec-driven dev has made the team meaningfully leaner than initial plan.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5623560" y="3127248"/>
            <a:ext cx="3246120" cy="14630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623560" y="3127248"/>
            <a:ext cx="73152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806440" y="32186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5806440" y="34198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Capable India </a:t>
            </a:r>
            <a:r>
              <a:rPr lang="en-US" sz="1300" b="1" dirty="0" err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mfg</a:t>
            </a:r>
            <a:r>
              <a:rPr lang="en-US" sz="1300" b="1" dirty="0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 partners</a:t>
            </a:r>
            <a:endParaRPr lang="en-US" sz="1300" dirty="0">
              <a:latin typeface="Georgi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06440" y="376732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8064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In progress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806440" y="4087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ready. Active engagement with MQS Tech / Amar Raja / VVDN. Answer in coming months.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65760" y="4544568"/>
            <a:ext cx="8412480" cy="411480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65760" y="4544568"/>
            <a:ext cx="73152" cy="41148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48640" y="4562856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OPTIONALITY  </a:t>
            </a:r>
            <a:r>
              <a:rPr lang="en-US" sz="10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astraX Cloud is built ground-up as a generic NDT SaaS. If the HW + SW solution is the main business, the SaaS layer is a credible standalone business supporting legacy NDT devices — second shot on goal.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4464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05740"/>
            <a:ext cx="6515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kern="0" spc="225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REFINED CASH NEED</a:t>
            </a:r>
            <a:endParaRPr lang="en-US" sz="750"/>
          </a:p>
        </p:txBody>
      </p:sp>
      <p:sp>
        <p:nvSpPr>
          <p:cNvPr id="3" name="Text 1"/>
          <p:cNvSpPr/>
          <p:nvPr/>
        </p:nvSpPr>
        <p:spPr>
          <a:xfrm>
            <a:off x="377190" y="377190"/>
            <a:ext cx="7543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Angel cash from Aug 2026 to PMF (Dec 2027)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7406640" y="260604"/>
            <a:ext cx="1405890" cy="288036"/>
          </a:xfrm>
          <a:prstGeom prst="rect">
            <a:avLst/>
          </a:prstGeom>
          <a:solidFill>
            <a:srgbClr val="0E5C6B"/>
          </a:solidFill>
          <a:ln w="12700">
            <a:solidFill>
              <a:srgbClr val="0E5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06640" y="260604"/>
            <a:ext cx="14058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13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17-MONTH BURN</a:t>
            </a:r>
            <a:endParaRPr lang="en-US" sz="713"/>
          </a:p>
        </p:txBody>
      </p:sp>
      <p:sp>
        <p:nvSpPr>
          <p:cNvPr id="6" name="Text 4"/>
          <p:cNvSpPr/>
          <p:nvPr/>
        </p:nvSpPr>
        <p:spPr>
          <a:xfrm>
            <a:off x="377190" y="788670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88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$33K/mo opex ($30K R&amp;D + $3K G&amp;A) · $150K NRE/tooling/cert · 50 devices built by Apr 2027 · Shipments ramp May–Dec 2027 · NET-30 collections</a:t>
            </a:r>
            <a:endParaRPr lang="en-US" sz="788"/>
          </a:p>
        </p:txBody>
      </p:sp>
      <p:sp>
        <p:nvSpPr>
          <p:cNvPr id="7" name="Shape 5"/>
          <p:cNvSpPr/>
          <p:nvPr/>
        </p:nvSpPr>
        <p:spPr>
          <a:xfrm>
            <a:off x="377190" y="1028700"/>
            <a:ext cx="84353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77190" y="1165860"/>
            <a:ext cx="5760720" cy="240030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77190" y="1165860"/>
            <a:ext cx="5760720" cy="54864"/>
          </a:xfrm>
          <a:prstGeom prst="rect">
            <a:avLst/>
          </a:prstGeom>
          <a:solidFill>
            <a:srgbClr val="0E5C6B"/>
          </a:solidFill>
          <a:ln w="12700">
            <a:solidFill>
              <a:srgbClr val="0E5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14350" y="1316736"/>
            <a:ext cx="32232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kern="0" spc="225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 FLOW + CUMULATIVE POSITION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3771900" y="1371600"/>
            <a:ext cx="96012" cy="82296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895344" y="1337310"/>
            <a:ext cx="5143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600"/>
          </a:p>
        </p:txBody>
      </p:sp>
      <p:sp>
        <p:nvSpPr>
          <p:cNvPr id="13" name="Shape 11"/>
          <p:cNvSpPr/>
          <p:nvPr/>
        </p:nvSpPr>
        <p:spPr>
          <a:xfrm>
            <a:off x="4354830" y="1371600"/>
            <a:ext cx="96012" cy="822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78274" y="1337310"/>
            <a:ext cx="5143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NRE/cert</a:t>
            </a:r>
            <a:endParaRPr lang="en-US" sz="60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96012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61204" y="1337310"/>
            <a:ext cx="5143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00"/>
          </a:p>
        </p:txBody>
      </p:sp>
      <p:sp>
        <p:nvSpPr>
          <p:cNvPr id="17" name="Shape 15"/>
          <p:cNvSpPr/>
          <p:nvPr/>
        </p:nvSpPr>
        <p:spPr>
          <a:xfrm>
            <a:off x="5520690" y="1371600"/>
            <a:ext cx="96012" cy="822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644134" y="1337310"/>
            <a:ext cx="5143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/>
          </a:p>
        </p:txBody>
      </p:sp>
      <p:sp>
        <p:nvSpPr>
          <p:cNvPr id="19" name="Shape 17"/>
          <p:cNvSpPr/>
          <p:nvPr/>
        </p:nvSpPr>
        <p:spPr>
          <a:xfrm>
            <a:off x="891540" y="3154680"/>
            <a:ext cx="50063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11480" y="3086100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-$1.25M</a:t>
            </a:r>
            <a:endParaRPr lang="en-US" sz="563"/>
          </a:p>
        </p:txBody>
      </p:sp>
      <p:sp>
        <p:nvSpPr>
          <p:cNvPr id="21" name="Shape 19"/>
          <p:cNvSpPr/>
          <p:nvPr/>
        </p:nvSpPr>
        <p:spPr>
          <a:xfrm>
            <a:off x="891540" y="2897505"/>
            <a:ext cx="50063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11480" y="2828925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-$1.00M</a:t>
            </a:r>
            <a:endParaRPr lang="en-US" sz="563"/>
          </a:p>
        </p:txBody>
      </p:sp>
      <p:sp>
        <p:nvSpPr>
          <p:cNvPr id="23" name="Shape 21"/>
          <p:cNvSpPr/>
          <p:nvPr/>
        </p:nvSpPr>
        <p:spPr>
          <a:xfrm>
            <a:off x="891540" y="2640330"/>
            <a:ext cx="50063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11480" y="2571750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-$750K</a:t>
            </a:r>
            <a:endParaRPr lang="en-US" sz="563"/>
          </a:p>
        </p:txBody>
      </p:sp>
      <p:sp>
        <p:nvSpPr>
          <p:cNvPr id="25" name="Shape 23"/>
          <p:cNvSpPr/>
          <p:nvPr/>
        </p:nvSpPr>
        <p:spPr>
          <a:xfrm>
            <a:off x="891540" y="2383155"/>
            <a:ext cx="50063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11480" y="2314575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-$500K</a:t>
            </a:r>
            <a:endParaRPr lang="en-US" sz="563"/>
          </a:p>
        </p:txBody>
      </p:sp>
      <p:sp>
        <p:nvSpPr>
          <p:cNvPr id="27" name="Shape 25"/>
          <p:cNvSpPr/>
          <p:nvPr/>
        </p:nvSpPr>
        <p:spPr>
          <a:xfrm>
            <a:off x="891540" y="2125980"/>
            <a:ext cx="50063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1480" y="2057400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-$250K</a:t>
            </a:r>
            <a:endParaRPr lang="en-US" sz="563"/>
          </a:p>
        </p:txBody>
      </p:sp>
      <p:sp>
        <p:nvSpPr>
          <p:cNvPr id="29" name="Shape 27"/>
          <p:cNvSpPr/>
          <p:nvPr/>
        </p:nvSpPr>
        <p:spPr>
          <a:xfrm>
            <a:off x="891540" y="1868805"/>
            <a:ext cx="5006340" cy="0"/>
          </a:xfrm>
          <a:prstGeom prst="line">
            <a:avLst/>
          </a:prstGeom>
          <a:noFill/>
          <a:ln w="15240">
            <a:solidFill>
              <a:srgbClr val="0F1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11480" y="1800225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$0K</a:t>
            </a:r>
            <a:endParaRPr lang="en-US" sz="563"/>
          </a:p>
        </p:txBody>
      </p:sp>
      <p:sp>
        <p:nvSpPr>
          <p:cNvPr id="31" name="Shape 29"/>
          <p:cNvSpPr/>
          <p:nvPr/>
        </p:nvSpPr>
        <p:spPr>
          <a:xfrm>
            <a:off x="891540" y="1611630"/>
            <a:ext cx="50063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11480" y="1543050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563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563"/>
          </a:p>
        </p:txBody>
      </p:sp>
      <p:sp>
        <p:nvSpPr>
          <p:cNvPr id="33" name="Shape 31"/>
          <p:cNvSpPr/>
          <p:nvPr/>
        </p:nvSpPr>
        <p:spPr>
          <a:xfrm>
            <a:off x="957800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957800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1252291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252291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546781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1546781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841273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841273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2135763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2135763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2430254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2430254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2430254" y="1922040"/>
            <a:ext cx="161970" cy="152376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2724744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2724744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2724744" y="1922040"/>
            <a:ext cx="161970" cy="152376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3019235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3019235" y="1902752"/>
            <a:ext cx="161970" cy="19289"/>
          </a:xfrm>
          <a:prstGeom prst="rect">
            <a:avLst/>
          </a:prstGeom>
          <a:solidFill>
            <a:srgbClr val="C2410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3019235" y="1922040"/>
            <a:ext cx="161970" cy="152376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313725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3313725" y="1902752"/>
            <a:ext cx="161970" cy="152376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3608216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902706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3902706" y="1839178"/>
            <a:ext cx="161970" cy="29627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197197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4197197" y="1809552"/>
            <a:ext cx="161970" cy="59253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491688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4491688" y="1779925"/>
            <a:ext cx="161970" cy="88880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4786178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4786178" y="1765113"/>
            <a:ext cx="161970" cy="103693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5080669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5080669" y="1750299"/>
            <a:ext cx="161970" cy="118506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5375159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5375159" y="1750299"/>
            <a:ext cx="161970" cy="118506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669650" y="1868806"/>
            <a:ext cx="161970" cy="33947"/>
          </a:xfrm>
          <a:prstGeom prst="rect">
            <a:avLst/>
          </a:prstGeom>
          <a:solidFill>
            <a:srgbClr val="4A5C6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669650" y="1750299"/>
            <a:ext cx="161970" cy="118506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1038785" y="1922040"/>
            <a:ext cx="294491" cy="53235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1333276" y="1975276"/>
            <a:ext cx="294491" cy="53235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1627766" y="2028511"/>
            <a:ext cx="294491" cy="53235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1922257" y="2081746"/>
            <a:ext cx="294491" cy="53235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2216748" y="2134981"/>
            <a:ext cx="294491" cy="205612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2511238" y="2340593"/>
            <a:ext cx="294491" cy="205612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2805729" y="2546205"/>
            <a:ext cx="294491" cy="205612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3100219" y="2751816"/>
            <a:ext cx="294491" cy="186323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3394710" y="2938139"/>
            <a:ext cx="294491" cy="33947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3689200" y="2972086"/>
            <a:ext cx="294491" cy="4321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 flipV="1">
            <a:off x="3983691" y="2951100"/>
            <a:ext cx="294491" cy="25306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 flipV="1">
            <a:off x="4278181" y="2896168"/>
            <a:ext cx="294491" cy="54932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 flipV="1">
            <a:off x="4572672" y="2826421"/>
            <a:ext cx="294491" cy="69746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 flipV="1">
            <a:off x="4867163" y="2741863"/>
            <a:ext cx="294491" cy="84560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 flipV="1">
            <a:off x="5161654" y="2657303"/>
            <a:ext cx="294491" cy="84560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 flipV="1">
            <a:off x="5456144" y="2572744"/>
            <a:ext cx="294491" cy="84560"/>
          </a:xfrm>
          <a:prstGeom prst="line">
            <a:avLst/>
          </a:prstGeom>
          <a:noFill/>
          <a:ln w="317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833045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Aug26</a:t>
            </a:r>
            <a:endParaRPr lang="en-US" sz="600"/>
          </a:p>
        </p:txBody>
      </p:sp>
      <p:sp>
        <p:nvSpPr>
          <p:cNvPr id="86" name="Text 84"/>
          <p:cNvSpPr/>
          <p:nvPr/>
        </p:nvSpPr>
        <p:spPr>
          <a:xfrm>
            <a:off x="1422026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Oct26</a:t>
            </a:r>
            <a:endParaRPr lang="en-US" sz="600"/>
          </a:p>
        </p:txBody>
      </p:sp>
      <p:sp>
        <p:nvSpPr>
          <p:cNvPr id="87" name="Text 85"/>
          <p:cNvSpPr/>
          <p:nvPr/>
        </p:nvSpPr>
        <p:spPr>
          <a:xfrm>
            <a:off x="2011008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Dec26</a:t>
            </a:r>
            <a:endParaRPr lang="en-US" sz="600"/>
          </a:p>
        </p:txBody>
      </p:sp>
      <p:sp>
        <p:nvSpPr>
          <p:cNvPr id="88" name="Text 86"/>
          <p:cNvSpPr/>
          <p:nvPr/>
        </p:nvSpPr>
        <p:spPr>
          <a:xfrm>
            <a:off x="2599989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Feb27</a:t>
            </a:r>
            <a:endParaRPr lang="en-US" sz="600"/>
          </a:p>
        </p:txBody>
      </p:sp>
      <p:sp>
        <p:nvSpPr>
          <p:cNvPr id="89" name="Text 87"/>
          <p:cNvSpPr/>
          <p:nvPr/>
        </p:nvSpPr>
        <p:spPr>
          <a:xfrm>
            <a:off x="3188970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Apr27</a:t>
            </a:r>
            <a:endParaRPr lang="en-US" sz="600"/>
          </a:p>
        </p:txBody>
      </p:sp>
      <p:sp>
        <p:nvSpPr>
          <p:cNvPr id="90" name="Text 88"/>
          <p:cNvSpPr/>
          <p:nvPr/>
        </p:nvSpPr>
        <p:spPr>
          <a:xfrm>
            <a:off x="3777951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Jun27</a:t>
            </a:r>
            <a:endParaRPr lang="en-US" sz="600"/>
          </a:p>
        </p:txBody>
      </p:sp>
      <p:sp>
        <p:nvSpPr>
          <p:cNvPr id="91" name="Text 89"/>
          <p:cNvSpPr/>
          <p:nvPr/>
        </p:nvSpPr>
        <p:spPr>
          <a:xfrm>
            <a:off x="4366932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Aug27</a:t>
            </a:r>
            <a:endParaRPr lang="en-US" sz="600"/>
          </a:p>
        </p:txBody>
      </p:sp>
      <p:sp>
        <p:nvSpPr>
          <p:cNvPr id="92" name="Text 90"/>
          <p:cNvSpPr/>
          <p:nvPr/>
        </p:nvSpPr>
        <p:spPr>
          <a:xfrm>
            <a:off x="4955914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Oct27</a:t>
            </a:r>
            <a:endParaRPr lang="en-US" sz="600"/>
          </a:p>
        </p:txBody>
      </p:sp>
      <p:sp>
        <p:nvSpPr>
          <p:cNvPr id="93" name="Text 91"/>
          <p:cNvSpPr/>
          <p:nvPr/>
        </p:nvSpPr>
        <p:spPr>
          <a:xfrm>
            <a:off x="5544895" y="32095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Dec27</a:t>
            </a:r>
            <a:endParaRPr lang="en-US" sz="600"/>
          </a:p>
        </p:txBody>
      </p:sp>
      <p:sp>
        <p:nvSpPr>
          <p:cNvPr id="94" name="Shape 92"/>
          <p:cNvSpPr/>
          <p:nvPr/>
        </p:nvSpPr>
        <p:spPr>
          <a:xfrm>
            <a:off x="3915111" y="2907827"/>
            <a:ext cx="137160" cy="13716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3366471" y="3065561"/>
            <a:ext cx="1234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75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-$1.08M</a:t>
            </a:r>
            <a:endParaRPr lang="en-US" sz="675"/>
          </a:p>
        </p:txBody>
      </p:sp>
      <p:sp>
        <p:nvSpPr>
          <p:cNvPr id="96" name="Shape 94"/>
          <p:cNvSpPr/>
          <p:nvPr/>
        </p:nvSpPr>
        <p:spPr>
          <a:xfrm>
            <a:off x="5682055" y="2504165"/>
            <a:ext cx="137160" cy="137160"/>
          </a:xfrm>
          <a:prstGeom prst="ellipse">
            <a:avLst/>
          </a:prstGeom>
          <a:solidFill>
            <a:srgbClr val="0A495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4721935" y="2353289"/>
            <a:ext cx="10287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75" b="1" i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Dec'27 -$684K</a:t>
            </a:r>
            <a:endParaRPr lang="en-US" sz="675"/>
          </a:p>
        </p:txBody>
      </p:sp>
      <p:sp>
        <p:nvSpPr>
          <p:cNvPr id="98" name="Shape 96"/>
          <p:cNvSpPr/>
          <p:nvPr/>
        </p:nvSpPr>
        <p:spPr>
          <a:xfrm>
            <a:off x="6275070" y="1165860"/>
            <a:ext cx="2537460" cy="240030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6275070" y="1165860"/>
            <a:ext cx="2537460" cy="685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98"/>
          <p:cNvSpPr/>
          <p:nvPr/>
        </p:nvSpPr>
        <p:spPr>
          <a:xfrm>
            <a:off x="6446520" y="1371600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kern="0" spc="225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ANGEL ROUND</a:t>
            </a:r>
            <a:endParaRPr lang="en-US" sz="750"/>
          </a:p>
        </p:txBody>
      </p:sp>
      <p:sp>
        <p:nvSpPr>
          <p:cNvPr id="101" name="Text 99"/>
          <p:cNvSpPr/>
          <p:nvPr/>
        </p:nvSpPr>
        <p:spPr>
          <a:xfrm>
            <a:off x="6446520" y="157734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$1.50M</a:t>
            </a:r>
            <a:endParaRPr lang="en-US" sz="4050"/>
          </a:p>
        </p:txBody>
      </p:sp>
      <p:sp>
        <p:nvSpPr>
          <p:cNvPr id="102" name="Text 100"/>
          <p:cNvSpPr/>
          <p:nvPr/>
        </p:nvSpPr>
        <p:spPr>
          <a:xfrm>
            <a:off x="6446520" y="222885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88" i="1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Aug 2026 → Dec 2027. Hits PMF (50 devices, distributor live, SaaS attach) by year-end.</a:t>
            </a:r>
            <a:endParaRPr lang="en-US" sz="788"/>
          </a:p>
        </p:txBody>
      </p:sp>
      <p:sp>
        <p:nvSpPr>
          <p:cNvPr id="103" name="Shape 101"/>
          <p:cNvSpPr/>
          <p:nvPr/>
        </p:nvSpPr>
        <p:spPr>
          <a:xfrm>
            <a:off x="6446520" y="2708910"/>
            <a:ext cx="2194560" cy="0"/>
          </a:xfrm>
          <a:prstGeom prst="line">
            <a:avLst/>
          </a:prstGeom>
          <a:noFill/>
          <a:ln w="9525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6446520" y="279806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trough</a:t>
            </a:r>
            <a:endParaRPr lang="en-US" sz="713"/>
          </a:p>
        </p:txBody>
      </p:sp>
      <p:sp>
        <p:nvSpPr>
          <p:cNvPr id="105" name="Text 103"/>
          <p:cNvSpPr/>
          <p:nvPr/>
        </p:nvSpPr>
        <p:spPr>
          <a:xfrm>
            <a:off x="7920990" y="2798064"/>
            <a:ext cx="7200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-$1.08M</a:t>
            </a:r>
            <a:endParaRPr lang="en-US" sz="750"/>
          </a:p>
        </p:txBody>
      </p:sp>
      <p:sp>
        <p:nvSpPr>
          <p:cNvPr id="106" name="Text 104"/>
          <p:cNvSpPr/>
          <p:nvPr/>
        </p:nvSpPr>
        <p:spPr>
          <a:xfrm>
            <a:off x="6446520" y="29489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buffer</a:t>
            </a:r>
            <a:endParaRPr lang="en-US" sz="713"/>
          </a:p>
        </p:txBody>
      </p:sp>
      <p:sp>
        <p:nvSpPr>
          <p:cNvPr id="107" name="Text 105"/>
          <p:cNvSpPr/>
          <p:nvPr/>
        </p:nvSpPr>
        <p:spPr>
          <a:xfrm>
            <a:off x="7920990" y="2948940"/>
            <a:ext cx="7200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750"/>
          </a:p>
        </p:txBody>
      </p:sp>
      <p:sp>
        <p:nvSpPr>
          <p:cNvPr id="108" name="Text 106"/>
          <p:cNvSpPr/>
          <p:nvPr/>
        </p:nvSpPr>
        <p:spPr>
          <a:xfrm>
            <a:off x="6446520" y="30998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</a:t>
            </a:r>
            <a:endParaRPr lang="en-US" sz="713"/>
          </a:p>
        </p:txBody>
      </p:sp>
      <p:sp>
        <p:nvSpPr>
          <p:cNvPr id="109" name="Text 107"/>
          <p:cNvSpPr/>
          <p:nvPr/>
        </p:nvSpPr>
        <p:spPr>
          <a:xfrm>
            <a:off x="7920990" y="3099816"/>
            <a:ext cx="7200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2027</a:t>
            </a:r>
            <a:endParaRPr lang="en-US" sz="750"/>
          </a:p>
        </p:txBody>
      </p:sp>
      <p:sp>
        <p:nvSpPr>
          <p:cNvPr id="110" name="Text 108"/>
          <p:cNvSpPr/>
          <p:nvPr/>
        </p:nvSpPr>
        <p:spPr>
          <a:xfrm>
            <a:off x="6446520" y="325069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target</a:t>
            </a:r>
            <a:endParaRPr lang="en-US" sz="713"/>
          </a:p>
        </p:txBody>
      </p:sp>
      <p:sp>
        <p:nvSpPr>
          <p:cNvPr id="111" name="Text 109"/>
          <p:cNvSpPr/>
          <p:nvPr/>
        </p:nvSpPr>
        <p:spPr>
          <a:xfrm>
            <a:off x="7920990" y="3250692"/>
            <a:ext cx="7200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2027</a:t>
            </a:r>
            <a:endParaRPr lang="en-US" sz="750"/>
          </a:p>
        </p:txBody>
      </p:sp>
      <p:sp>
        <p:nvSpPr>
          <p:cNvPr id="112" name="Shape 110"/>
          <p:cNvSpPr/>
          <p:nvPr/>
        </p:nvSpPr>
        <p:spPr>
          <a:xfrm>
            <a:off x="377190" y="3669030"/>
            <a:ext cx="2016252" cy="116586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377190" y="3669030"/>
            <a:ext cx="2016252" cy="54864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Text 112"/>
          <p:cNvSpPr/>
          <p:nvPr/>
        </p:nvSpPr>
        <p:spPr>
          <a:xfrm>
            <a:off x="514350" y="37924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 kern="0" spc="225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675"/>
          </a:p>
        </p:txBody>
      </p:sp>
      <p:sp>
        <p:nvSpPr>
          <p:cNvPr id="115" name="Text 113"/>
          <p:cNvSpPr/>
          <p:nvPr/>
        </p:nvSpPr>
        <p:spPr>
          <a:xfrm>
            <a:off x="514350" y="3957066"/>
            <a:ext cx="174193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75"/>
          </a:p>
        </p:txBody>
      </p:sp>
      <p:sp>
        <p:nvSpPr>
          <p:cNvPr id="116" name="Text 114"/>
          <p:cNvSpPr/>
          <p:nvPr/>
        </p:nvSpPr>
        <p:spPr>
          <a:xfrm>
            <a:off x="514350" y="4162806"/>
            <a:ext cx="17419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b="1">
                <a:solidFill>
                  <a:srgbClr val="4A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−$561K</a:t>
            </a:r>
            <a:endParaRPr lang="en-US" sz="1650"/>
          </a:p>
        </p:txBody>
      </p:sp>
      <p:sp>
        <p:nvSpPr>
          <p:cNvPr id="117" name="Text 115"/>
          <p:cNvSpPr/>
          <p:nvPr/>
        </p:nvSpPr>
        <p:spPr>
          <a:xfrm>
            <a:off x="514350" y="44782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 × $33K</a:t>
            </a:r>
            <a:endParaRPr lang="en-US" sz="713"/>
          </a:p>
        </p:txBody>
      </p:sp>
      <p:sp>
        <p:nvSpPr>
          <p:cNvPr id="118" name="Text 116"/>
          <p:cNvSpPr/>
          <p:nvPr/>
        </p:nvSpPr>
        <p:spPr>
          <a:xfrm>
            <a:off x="514350" y="4629150"/>
            <a:ext cx="1741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 R&amp;D + $3K G&amp;A monthly</a:t>
            </a:r>
            <a:endParaRPr lang="en-US" sz="675"/>
          </a:p>
        </p:txBody>
      </p:sp>
      <p:sp>
        <p:nvSpPr>
          <p:cNvPr id="119" name="Shape 117"/>
          <p:cNvSpPr/>
          <p:nvPr/>
        </p:nvSpPr>
        <p:spPr>
          <a:xfrm>
            <a:off x="2516886" y="3669030"/>
            <a:ext cx="2016252" cy="116586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2516886" y="3669030"/>
            <a:ext cx="2016252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119"/>
          <p:cNvSpPr/>
          <p:nvPr/>
        </p:nvSpPr>
        <p:spPr>
          <a:xfrm>
            <a:off x="2654046" y="37924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 kern="0" spc="225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</a:t>
            </a:r>
            <a:endParaRPr lang="en-US" sz="675"/>
          </a:p>
        </p:txBody>
      </p:sp>
      <p:sp>
        <p:nvSpPr>
          <p:cNvPr id="122" name="Text 120"/>
          <p:cNvSpPr/>
          <p:nvPr/>
        </p:nvSpPr>
        <p:spPr>
          <a:xfrm>
            <a:off x="2654046" y="3957066"/>
            <a:ext cx="174193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spend</a:t>
            </a:r>
            <a:endParaRPr lang="en-US" sz="975"/>
          </a:p>
        </p:txBody>
      </p:sp>
      <p:sp>
        <p:nvSpPr>
          <p:cNvPr id="123" name="Text 121"/>
          <p:cNvSpPr/>
          <p:nvPr/>
        </p:nvSpPr>
        <p:spPr>
          <a:xfrm>
            <a:off x="2654046" y="4162806"/>
            <a:ext cx="17419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b="1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−$150K</a:t>
            </a:r>
            <a:endParaRPr lang="en-US" sz="1650"/>
          </a:p>
        </p:txBody>
      </p:sp>
      <p:sp>
        <p:nvSpPr>
          <p:cNvPr id="124" name="Text 122"/>
          <p:cNvSpPr/>
          <p:nvPr/>
        </p:nvSpPr>
        <p:spPr>
          <a:xfrm>
            <a:off x="2654046" y="44782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Aug'26–Mar'27</a:t>
            </a:r>
            <a:endParaRPr lang="en-US" sz="713"/>
          </a:p>
        </p:txBody>
      </p:sp>
      <p:sp>
        <p:nvSpPr>
          <p:cNvPr id="125" name="Text 123"/>
          <p:cNvSpPr/>
          <p:nvPr/>
        </p:nvSpPr>
        <p:spPr>
          <a:xfrm>
            <a:off x="2654046" y="4629150"/>
            <a:ext cx="1741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Tooling, certification, lab fees</a:t>
            </a:r>
            <a:endParaRPr lang="en-US" sz="675"/>
          </a:p>
        </p:txBody>
      </p:sp>
      <p:sp>
        <p:nvSpPr>
          <p:cNvPr id="126" name="Shape 124"/>
          <p:cNvSpPr/>
          <p:nvPr/>
        </p:nvSpPr>
        <p:spPr>
          <a:xfrm>
            <a:off x="4656582" y="3669030"/>
            <a:ext cx="2016252" cy="116586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4656582" y="3669030"/>
            <a:ext cx="2016252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Text 126"/>
          <p:cNvSpPr/>
          <p:nvPr/>
        </p:nvSpPr>
        <p:spPr>
          <a:xfrm>
            <a:off x="4793742" y="37924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 kern="0" spc="225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675"/>
          </a:p>
        </p:txBody>
      </p:sp>
      <p:sp>
        <p:nvSpPr>
          <p:cNvPr id="129" name="Text 127"/>
          <p:cNvSpPr/>
          <p:nvPr/>
        </p:nvSpPr>
        <p:spPr>
          <a:xfrm>
            <a:off x="4793742" y="3957066"/>
            <a:ext cx="174193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50 devices</a:t>
            </a:r>
            <a:endParaRPr lang="en-US" sz="975"/>
          </a:p>
        </p:txBody>
      </p:sp>
      <p:sp>
        <p:nvSpPr>
          <p:cNvPr id="130" name="Text 128"/>
          <p:cNvSpPr/>
          <p:nvPr/>
        </p:nvSpPr>
        <p:spPr>
          <a:xfrm>
            <a:off x="4793742" y="4162806"/>
            <a:ext cx="17419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b="1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−$593K</a:t>
            </a:r>
            <a:endParaRPr lang="en-US" sz="1650"/>
          </a:p>
        </p:txBody>
      </p:sp>
      <p:sp>
        <p:nvSpPr>
          <p:cNvPr id="131" name="Text 129"/>
          <p:cNvSpPr/>
          <p:nvPr/>
        </p:nvSpPr>
        <p:spPr>
          <a:xfrm>
            <a:off x="4793742" y="44782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Jan–Apr'27</a:t>
            </a:r>
            <a:endParaRPr lang="en-US" sz="713"/>
          </a:p>
        </p:txBody>
      </p:sp>
      <p:sp>
        <p:nvSpPr>
          <p:cNvPr id="132" name="Text 130"/>
          <p:cNvSpPr/>
          <p:nvPr/>
        </p:nvSpPr>
        <p:spPr>
          <a:xfrm>
            <a:off x="4793742" y="4629150"/>
            <a:ext cx="1741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@ $11,850/unit small-qty</a:t>
            </a:r>
            <a:endParaRPr lang="en-US" sz="675"/>
          </a:p>
        </p:txBody>
      </p:sp>
      <p:sp>
        <p:nvSpPr>
          <p:cNvPr id="133" name="Shape 131"/>
          <p:cNvSpPr/>
          <p:nvPr/>
        </p:nvSpPr>
        <p:spPr>
          <a:xfrm>
            <a:off x="6796278" y="3669030"/>
            <a:ext cx="2016252" cy="116586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6796278" y="3669030"/>
            <a:ext cx="2016252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Text 133"/>
          <p:cNvSpPr/>
          <p:nvPr/>
        </p:nvSpPr>
        <p:spPr>
          <a:xfrm>
            <a:off x="6933438" y="37924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 kern="0" spc="225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75"/>
          </a:p>
        </p:txBody>
      </p:sp>
      <p:sp>
        <p:nvSpPr>
          <p:cNvPr id="136" name="Text 134"/>
          <p:cNvSpPr/>
          <p:nvPr/>
        </p:nvSpPr>
        <p:spPr>
          <a:xfrm>
            <a:off x="6933438" y="3957066"/>
            <a:ext cx="174193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 (NET-30)</a:t>
            </a:r>
            <a:endParaRPr lang="en-US" sz="975"/>
          </a:p>
        </p:txBody>
      </p:sp>
      <p:sp>
        <p:nvSpPr>
          <p:cNvPr id="137" name="Text 135"/>
          <p:cNvSpPr/>
          <p:nvPr/>
        </p:nvSpPr>
        <p:spPr>
          <a:xfrm>
            <a:off x="6933438" y="4162806"/>
            <a:ext cx="17419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b="1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+$619K</a:t>
            </a:r>
            <a:endParaRPr lang="en-US" sz="1650"/>
          </a:p>
        </p:txBody>
      </p:sp>
      <p:sp>
        <p:nvSpPr>
          <p:cNvPr id="138" name="Text 136"/>
          <p:cNvSpPr/>
          <p:nvPr/>
        </p:nvSpPr>
        <p:spPr>
          <a:xfrm>
            <a:off x="6933438" y="4478274"/>
            <a:ext cx="17419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Jun–Dec'27</a:t>
            </a:r>
            <a:endParaRPr lang="en-US" sz="713"/>
          </a:p>
        </p:txBody>
      </p:sp>
      <p:sp>
        <p:nvSpPr>
          <p:cNvPr id="139" name="Text 137"/>
          <p:cNvSpPr/>
          <p:nvPr/>
        </p:nvSpPr>
        <p:spPr>
          <a:xfrm>
            <a:off x="6933438" y="4629150"/>
            <a:ext cx="1741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ramp 2→8/mo; 43 of 50 collected by Dec'27</a:t>
            </a:r>
            <a:endParaRPr lang="en-US" sz="675"/>
          </a:p>
        </p:txBody>
      </p:sp>
      <p:sp>
        <p:nvSpPr>
          <p:cNvPr id="140" name="Shape 138"/>
          <p:cNvSpPr/>
          <p:nvPr/>
        </p:nvSpPr>
        <p:spPr>
          <a:xfrm>
            <a:off x="377190" y="4736592"/>
            <a:ext cx="8435340" cy="205740"/>
          </a:xfrm>
          <a:prstGeom prst="rect">
            <a:avLst/>
          </a:prstGeom>
          <a:solidFill>
            <a:srgbClr val="E8F1F3"/>
          </a:solidFill>
          <a:ln w="12700">
            <a:solidFill>
              <a:srgbClr val="0E5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Text 139"/>
          <p:cNvSpPr/>
          <p:nvPr/>
        </p:nvSpPr>
        <p:spPr>
          <a:xfrm>
            <a:off x="480060" y="4736592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50" b="1" kern="0" spc="150" dirty="0">
                <a:solidFill>
                  <a:srgbClr val="0E5C6B"/>
                </a:solidFill>
                <a:latin typeface="Calibri"/>
                <a:ea typeface="Calibri"/>
                <a:cs typeface="Calibri"/>
              </a:rPr>
              <a:t>WHERE THE MONEY GOES </a:t>
            </a:r>
            <a:r>
              <a:rPr lang="en-US" sz="750" b="1" dirty="0">
                <a:solidFill>
                  <a:srgbClr val="0F1F2E"/>
                </a:solidFill>
                <a:latin typeface="Calibri"/>
                <a:ea typeface="Calibri"/>
                <a:cs typeface="Calibri"/>
              </a:rPr>
              <a:t>Inventory(as necessary) dominates, not </a:t>
            </a:r>
            <a:r>
              <a:rPr lang="en-US" sz="750" b="1" dirty="0" err="1">
                <a:solidFill>
                  <a:srgbClr val="0F1F2E"/>
                </a:solidFill>
                <a:latin typeface="Calibri"/>
                <a:ea typeface="Calibri"/>
                <a:cs typeface="Calibri"/>
              </a:rPr>
              <a:t>opex</a:t>
            </a:r>
            <a:r>
              <a:rPr lang="en-US" sz="750" b="1" dirty="0">
                <a:solidFill>
                  <a:srgbClr val="0F1F2E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700" i="1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BOM for 50 devices = $593K; 17 months of </a:t>
            </a:r>
            <a:r>
              <a:rPr lang="en-US" sz="700" i="1" dirty="0" err="1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opex</a:t>
            </a:r>
            <a:r>
              <a:rPr lang="en-US" sz="700" i="1" dirty="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 = $561K. Working capital is the real ask — it converts to revenue, not burn.</a:t>
            </a:r>
            <a:endParaRPr lang="en-US" sz="700" dirty="0">
              <a:latin typeface="Calibri"/>
              <a:ea typeface="Calibri"/>
              <a:cs typeface="Calibri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</a:p>
        </p:txBody>
      </p:sp>
    </p:spTree>
    <p:extLst>
      <p:ext uri="{BB962C8B-B14F-4D97-AF65-F5344CB8AC3E}">
        <p14:creationId xmlns:p14="http://schemas.microsoft.com/office/powerpoint/2010/main" val="2501199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ECONOMICS · 50 UNITS/YEAR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Per-unit math behind the 2027 PB1.0 launch year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7315200" y="292608"/>
            <a:ext cx="1508760" cy="38404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0" y="292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PB1.0 BASIS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to angel slide: 50 × $14.4K ASP = $720K revenue  ·  50 × $11.85K BOM = $592.5K inventory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PER-UNIT MATH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4114800" cy="228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645920" y="1755648"/>
            <a:ext cx="173736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$14,400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BOM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1645920" y="2167128"/>
            <a:ext cx="1429703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$11,850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121342" y="2157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(small-qty)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4114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" y="2578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1645920" y="2642616"/>
            <a:ext cx="307658" cy="20116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74720" y="2578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0A4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$2,550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0540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A4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17.7%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1828800" y="30540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50-unit build</a:t>
            </a:r>
            <a:endParaRPr lang="en-US" sz="1000"/>
          </a:p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by design — small-qty BOM, no volume discounts yet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65760" y="36301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TOP 4 LINE ITEMS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FastSDD detector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1828800" y="3877056"/>
            <a:ext cx="1920240" cy="10972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79476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65760" y="4023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tube (Scorpius)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1828800" y="4059936"/>
            <a:ext cx="1365504" cy="109728"/>
          </a:xfrm>
          <a:prstGeom prst="rect">
            <a:avLst/>
          </a:prstGeom>
          <a:solidFill>
            <a:srgbClr val="1A8A9C"/>
          </a:solidFill>
          <a:ln w="12700">
            <a:solidFill>
              <a:srgbClr val="1A8A9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240024" y="4023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65760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/ signal-chain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1828800" y="4242816"/>
            <a:ext cx="597408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471928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$1,400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65760" y="43891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(×9 items)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1828800" y="4425696"/>
            <a:ext cx="1173480" cy="109728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048000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$2,750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4709160" y="1280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ANNUAL P&amp;L AT 50/YEAR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709160" y="1527048"/>
            <a:ext cx="4114800" cy="228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80060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99516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$720,000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8183880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4800600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COGS</a:t>
            </a:r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6995160" y="2048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($592,500)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8183880" y="20482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4709160" y="2331720"/>
            <a:ext cx="4114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80060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6995160" y="2359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A4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$127,500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8183880" y="2359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4800600" y="2670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OpEx (annual)</a:t>
            </a:r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6995160" y="26700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($396,000)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8183880" y="2670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4709160" y="2953512"/>
            <a:ext cx="4114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4800600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(ex-NRE)</a:t>
            </a:r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699516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($268,500)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8183880" y="29809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(37%)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4800600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NRE (one-time)</a:t>
            </a:r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6995160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($150,000)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8183880" y="3291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59" name="Shape 57"/>
          <p:cNvSpPr/>
          <p:nvPr/>
        </p:nvSpPr>
        <p:spPr>
          <a:xfrm>
            <a:off x="4709160" y="3584448"/>
            <a:ext cx="4114800" cy="329184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4800600" y="3602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P&amp;L impact</a:t>
            </a:r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6995160" y="3602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($418,500)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8183880" y="36027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(58%)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4709160" y="4005072"/>
            <a:ext cx="4114800" cy="64008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4709160" y="4005072"/>
            <a:ext cx="411480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846320" y="4096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00"/>
          </a:p>
        </p:txBody>
      </p:sp>
      <p:sp>
        <p:nvSpPr>
          <p:cNvPr id="66" name="Text 64"/>
          <p:cNvSpPr/>
          <p:nvPr/>
        </p:nvSpPr>
        <p:spPr>
          <a:xfrm>
            <a:off x="4846320" y="4279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 units/yr</a:t>
            </a:r>
            <a:endParaRPr lang="en-US" sz="1700"/>
          </a:p>
        </p:txBody>
      </p:sp>
      <p:sp>
        <p:nvSpPr>
          <p:cNvPr id="67" name="Text 65"/>
          <p:cNvSpPr/>
          <p:nvPr/>
        </p:nvSpPr>
        <p:spPr>
          <a:xfrm>
            <a:off x="6858000" y="40965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/ UNIT (ex-NRE)</a:t>
            </a:r>
            <a:endParaRPr lang="en-US" sz="800"/>
          </a:p>
        </p:txBody>
      </p:sp>
      <p:sp>
        <p:nvSpPr>
          <p:cNvPr id="68" name="Text 66"/>
          <p:cNvSpPr/>
          <p:nvPr/>
        </p:nvSpPr>
        <p:spPr>
          <a:xfrm>
            <a:off x="6858000" y="4279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($5,370)</a:t>
            </a:r>
            <a:endParaRPr lang="en-US" sz="1700"/>
          </a:p>
        </p:txBody>
      </p:sp>
      <p:sp>
        <p:nvSpPr>
          <p:cNvPr id="69" name="Shape 67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50292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</a:t>
            </a: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economics are structural — 50 units cannot cover opex. By 150 units GM crosses 27%; by 500 units GM is 40%+ and OI margin 33%. PB1.0 is for learning and credibility, not for profit.</a:t>
            </a:r>
            <a:endParaRPr lang="en-US" sz="900"/>
          </a:p>
        </p:txBody>
      </p:sp>
      <p:sp>
        <p:nvSpPr>
          <p:cNvPr id="71" name="Text 69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· 2030 VALUATION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 round at end-2027 → scale to 500 units by 2030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7315200" y="292608"/>
            <a:ext cx="1508760" cy="38404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0" y="292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PATH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questions: how big is the Series A, and what is astraX worth at steady state?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SERIES A SIZING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5212080" cy="228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2286000" cy="12801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228600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502920" y="1938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$5–6M</a:t>
            </a:r>
            <a:endParaRPr lang="en-US" sz="380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end-2027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788920" y="164592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2788920" y="1792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$1.3M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657600" y="1810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build for 50→150→350→500 ramp + NET-30 receivables lag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2788920" y="20848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OPEX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278892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$3.7M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657600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Fulltime team, GTM, Ops, regulatory leadership over 3 years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88920" y="252374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(25%)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2788920" y="2670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$1.0M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657600" y="2688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slips, sales misses, BOM cost variance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36576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 </a:t>
            </a: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3 years of operations through 2030 steady-state ($2.42M annual OI, $3.46M cumulative cash). No Series B required if execution holds.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5212080" cy="640080"/>
          </a:xfrm>
          <a:prstGeom prst="rect">
            <a:avLst/>
          </a:prstGeom>
          <a:solidFill>
            <a:srgbClr val="E8F1F3"/>
          </a:solidFill>
          <a:ln w="9525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02920" y="3822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Lean:  </a:t>
            </a:r>
            <a:r>
              <a:rPr lang="en-US" sz="1000" b="1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</a:t>
            </a: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(smaller team, slower hiring)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" y="416966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 </a:t>
            </a:r>
            <a:r>
              <a:rPr lang="en-US" sz="100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$5–6M</a:t>
            </a: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(VC-credible scale-up for hardware + AI co)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5760720" y="1280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2030 VALUATION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5760720" y="1527048"/>
            <a:ext cx="3017520" cy="228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760720" y="1645920"/>
            <a:ext cx="3017520" cy="12801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760720" y="1645920"/>
            <a:ext cx="301752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0" y="17556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943600" y="19385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~$40M</a:t>
            </a:r>
            <a:endParaRPr lang="en-US" sz="4200"/>
          </a:p>
        </p:txBody>
      </p:sp>
      <p:sp>
        <p:nvSpPr>
          <p:cNvPr id="35" name="Text 33"/>
          <p:cNvSpPr/>
          <p:nvPr/>
        </p:nvSpPr>
        <p:spPr>
          <a:xfrm>
            <a:off x="5943600" y="2697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5.5× revenue, 17× EBITDA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5760720" y="3145536"/>
            <a:ext cx="73152" cy="292608"/>
          </a:xfrm>
          <a:prstGeom prst="rect">
            <a:avLst/>
          </a:prstGeom>
          <a:solidFill>
            <a:srgbClr val="4A5C6E"/>
          </a:solidFill>
          <a:ln w="12700">
            <a:solidFill>
              <a:srgbClr val="4A5C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925312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925312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3–4× rev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7223760" y="3154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4A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$22–29M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5760720" y="3529584"/>
            <a:ext cx="73152" cy="29260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25312" y="3493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5925312" y="36758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5–6× rev</a:t>
            </a: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7223760" y="35387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4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$36–43M</a:t>
            </a:r>
            <a:endParaRPr lang="en-US" sz="1400"/>
          </a:p>
        </p:txBody>
      </p:sp>
      <p:sp>
        <p:nvSpPr>
          <p:cNvPr id="44" name="Shape 42"/>
          <p:cNvSpPr/>
          <p:nvPr/>
        </p:nvSpPr>
        <p:spPr>
          <a:xfrm>
            <a:off x="5760720" y="3913632"/>
            <a:ext cx="73152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925312" y="38770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5925312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7–10× rev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7223760" y="39227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$50–70M+</a:t>
            </a:r>
            <a:endParaRPr lang="en-US" sz="1400"/>
          </a:p>
        </p:txBody>
      </p:sp>
      <p:sp>
        <p:nvSpPr>
          <p:cNvPr id="48" name="Shape 46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02920" y="4636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 </a:t>
            </a: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$7.2M ARR  ·  $2.42M OI (33.6% margin)  ·  40.6% GM  ·  growing 40%+ YoY  ·  hardware + AI/SaaS attach justifies upper end of XRF peer band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SCENARIOS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3931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paths — floor, base, upside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7178040" y="228600"/>
            <a:ext cx="1691640" cy="50292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78040" y="256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INVESTED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78040" y="420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365760" y="7589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floor case returns capital. The base case is venture-scale. The upside is a generational outcome.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65760" y="987552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8412480" cy="1115568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109728" cy="11155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66928" y="1280160"/>
            <a:ext cx="2468880" cy="219456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6928" y="12801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— PRE-PMF EXIT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566928" y="1527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design to Indian buyer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66928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if we decide not to commit BOM for the 50 units (early 2027)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SPENT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4754880" y="1472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2E"/>
                </a:solidFill>
                <a:latin typeface="Georgia"/>
                <a:ea typeface="Georgia" pitchFamily="34" charset="-122"/>
                <a:cs typeface="Georgia" pitchFamily="34" charset="-120"/>
              </a:rPr>
              <a:t>~$750k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126480" y="1307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VALUE</a:t>
            </a:r>
            <a:endParaRPr lang="en-US" sz="750"/>
          </a:p>
        </p:txBody>
      </p:sp>
      <p:sp>
        <p:nvSpPr>
          <p:cNvPr id="18" name="Text 16"/>
          <p:cNvSpPr/>
          <p:nvPr/>
        </p:nvSpPr>
        <p:spPr>
          <a:xfrm>
            <a:off x="6126480" y="1472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45309"/>
                </a:solidFill>
                <a:latin typeface="Georgia"/>
                <a:ea typeface="Georgia" pitchFamily="34" charset="-122"/>
                <a:cs typeface="Georgia" pitchFamily="34" charset="-120"/>
              </a:rPr>
              <a:t>~$1.5–2M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7498080" y="1307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RETURN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7498080" y="1472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1.5–2×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754880" y="1819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PATH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5989320" y="18196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industrial conglomerate seeking turnkey NDT design + commercial relationships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365760" y="2331720"/>
            <a:ext cx="8412480" cy="1115568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65760" y="2331720"/>
            <a:ext cx="109728" cy="111556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66928" y="2468880"/>
            <a:ext cx="2468880" cy="219456"/>
          </a:xfrm>
          <a:prstGeom prst="rect">
            <a:avLst/>
          </a:prstGeom>
          <a:solidFill>
            <a:srgbClr val="E8F1F3"/>
          </a:solidFill>
          <a:ln w="635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66928" y="24688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DEFAULT ACQUISITION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566928" y="2715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after multi-geography PMF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566928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 with PMF proven in India + at least one other geography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4754880" y="2496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SPENT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4754880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~$7M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6126480" y="2496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VALUE</a:t>
            </a:r>
            <a:endParaRPr lang="en-US" sz="750"/>
          </a:p>
        </p:txBody>
      </p:sp>
      <p:sp>
        <p:nvSpPr>
          <p:cNvPr id="32" name="Text 30"/>
          <p:cNvSpPr/>
          <p:nvPr/>
        </p:nvSpPr>
        <p:spPr>
          <a:xfrm>
            <a:off x="6126480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4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~$40M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7498080" y="2496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RETURN</a:t>
            </a:r>
            <a:endParaRPr lang="en-US" sz="750"/>
          </a:p>
        </p:txBody>
      </p:sp>
      <p:sp>
        <p:nvSpPr>
          <p:cNvPr id="34" name="Text 32"/>
          <p:cNvSpPr/>
          <p:nvPr/>
        </p:nvSpPr>
        <p:spPr>
          <a:xfrm>
            <a:off x="7498080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8–23×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4754880" y="2953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$25–70M depending on multiples · 8–12× base · 14–23× bull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4754880" y="3172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PATH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5989320" y="31729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or global instrumentation incumbent or industrial conglomerate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365760" y="3520440"/>
            <a:ext cx="8412480" cy="1115568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109728" cy="11155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66928" y="3657600"/>
            <a:ext cx="2468880" cy="219456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66928" y="3657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— IPO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566928" y="3904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 scaling → public listing</a:t>
            </a:r>
            <a:endParaRPr lang="en-US" sz="1300"/>
          </a:p>
        </p:txBody>
      </p:sp>
      <p:sp>
        <p:nvSpPr>
          <p:cNvPr id="43" name="Text 41"/>
          <p:cNvSpPr/>
          <p:nvPr/>
        </p:nvSpPr>
        <p:spPr>
          <a:xfrm>
            <a:off x="566928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listing at $30–50M ARR (~2031–33) or US IPO at $100M+ ARR (~2034–36)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4754880" y="3685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SPENT</a:t>
            </a:r>
            <a:endParaRPr lang="en-US" sz="750"/>
          </a:p>
        </p:txBody>
      </p:sp>
      <p:sp>
        <p:nvSpPr>
          <p:cNvPr id="45" name="Text 43"/>
          <p:cNvSpPr/>
          <p:nvPr/>
        </p:nvSpPr>
        <p:spPr>
          <a:xfrm>
            <a:off x="4754880" y="3849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Multi-round</a:t>
            </a:r>
            <a:endParaRPr lang="en-US" sz="1300"/>
          </a:p>
        </p:txBody>
      </p:sp>
      <p:sp>
        <p:nvSpPr>
          <p:cNvPr id="46" name="Text 44"/>
          <p:cNvSpPr/>
          <p:nvPr/>
        </p:nvSpPr>
        <p:spPr>
          <a:xfrm>
            <a:off x="6126480" y="3685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VALUE</a:t>
            </a:r>
            <a:endParaRPr lang="en-US" sz="750"/>
          </a:p>
        </p:txBody>
      </p:sp>
      <p:sp>
        <p:nvSpPr>
          <p:cNvPr id="47" name="Text 45"/>
          <p:cNvSpPr/>
          <p:nvPr/>
        </p:nvSpPr>
        <p:spPr>
          <a:xfrm>
            <a:off x="6126480" y="3849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$300M–$1B+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7498080" y="3685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RETURN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7498080" y="3849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20–50×+</a:t>
            </a:r>
            <a:endParaRPr lang="en-US" sz="1300"/>
          </a:p>
        </p:txBody>
      </p:sp>
      <p:sp>
        <p:nvSpPr>
          <p:cNvPr id="50" name="Text 48"/>
          <p:cNvSpPr/>
          <p:nvPr/>
        </p:nvSpPr>
        <p:spPr>
          <a:xfrm>
            <a:off x="4754880" y="4142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liquidity via lockup + secondary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754880" y="4361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PATH</a:t>
            </a:r>
            <a:endParaRPr lang="en-US" sz="750"/>
          </a:p>
        </p:txBody>
      </p:sp>
      <p:sp>
        <p:nvSpPr>
          <p:cNvPr id="52" name="Text 50"/>
          <p:cNvSpPr/>
          <p:nvPr/>
        </p:nvSpPr>
        <p:spPr>
          <a:xfrm>
            <a:off x="5989320" y="43616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markets — NSE/BSE first, US later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365760" y="4617720"/>
            <a:ext cx="73152" cy="3657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48640" y="463600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LIQUIDITY  </a:t>
            </a: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provisions per term sheet. Pre-PMF recovery is an estimate based on design + IP + commercial relationships value, not a contractual liquidation preference.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735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numbers compound differently here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201168"/>
            <a:ext cx="1691640" cy="45720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194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ASTRAX vs. INCUMBENT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178040" y="3840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levers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advantage is the headline. The CFO story has four legs — R&amp;D capital, India ops, AI leverage, tax structure.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109728" cy="169164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243584"/>
            <a:ext cx="310896" cy="310896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12252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R&amp;D capital efficiency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$6.5M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4A5C6E"/>
                </a:solidFill>
                <a:latin typeface="Calibri"/>
                <a:ea typeface="Calibri"/>
                <a:cs typeface="Calibri"/>
              </a:rPr>
              <a:t>to 500 devices — and every new product after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2267712"/>
            <a:ext cx="3657600" cy="237744"/>
          </a:xfrm>
          <a:prstGeom prst="rect">
            <a:avLst/>
          </a:prstGeom>
          <a:solidFill>
            <a:srgbClr val="E8F1F3"/>
          </a:solidFill>
          <a:ln w="6350">
            <a:solidFill>
              <a:srgbClr val="0A4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67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F1F2E"/>
                </a:solidFill>
                <a:latin typeface="Calibri"/>
                <a:ea typeface="Calibri"/>
                <a:cs typeface="Calibri"/>
              </a:rPr>
              <a:t>vs. $30–60M+ incumbents spend per comparable product cycle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R&amp;D model (US SME + India eng + AI-assisted dev) compounds across every future product — astra-UT, NIR, benchtop, inline. Same efficiency on every cycle.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114800" cy="16916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97280"/>
            <a:ext cx="109728" cy="1691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243584"/>
            <a:ext cx="310896" cy="31089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12252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ops cost footprint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opex, not BOM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267712"/>
            <a:ext cx="3657600" cy="237744"/>
          </a:xfrm>
          <a:prstGeom prst="rect">
            <a:avLst/>
          </a:prstGeom>
          <a:solidFill>
            <a:srgbClr val="FFF4E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267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(esp. Amptek tube/SDD/DPP) stays comparable; India mfg + eng + service is structurally lower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advantage comes from India operations cost base — engineering, mfg, service, support. Structural and durable from day one.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26080"/>
            <a:ext cx="109728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07238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" y="30540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ops leverage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Sub-linear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9436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vs. revenue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4096512"/>
            <a:ext cx="3657600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096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Near-to-mid term advantage — until incumbents reorg around AI-native ops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support, sales workflows AI-augmented from day one. Stacks on top of the India cost base. Window closes as incumbents catch up.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2926080"/>
            <a:ext cx="4114800" cy="16916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926080"/>
            <a:ext cx="109728" cy="1691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072384"/>
            <a:ext cx="310896" cy="31089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85232" y="30540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+ structural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9204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$1.5–2M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4892040" y="3886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80-IAC + rebates at 2030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4096512"/>
            <a:ext cx="3657600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4096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DPIIT Deep Tech recognition + state grants + patent rebates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204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Deep Tech framework unlocks tax holiday (if 51% Indian) + patent fee rebates + state grants + procurement access. Below-the-line items, real cash.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4617720"/>
            <a:ext cx="73152" cy="36576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63600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TAKEAWAY  </a:t>
            </a:r>
            <a:r>
              <a:rPr lang="en-US" sz="900" i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dollar of revenue runs with less R&amp;D capital per product, lower India cost base, AI leverage that compounds before incumbents catch up, and better tax structure. Operating income is one of four legs.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Business System  ·  India Beachhead  ·  World TAM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75746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DEEP TECH RECOGNITION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astraX qualifies — DPIIT Deep Tech category, Feb 2026 framework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7178040" y="201168"/>
            <a:ext cx="1691640" cy="457200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78040" y="2194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D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G.S.R. 108(E)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78040" y="3840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Feb 2026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astraX India Pvt Ltd → apply for Deep Tech recognition → unlock 20-year runway + capital access + IP rebates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41248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ELIGIBILITY  —  astraX qualifies on substance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316736"/>
            <a:ext cx="4114800" cy="20117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576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731520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 scientific / engineering knowledge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731520" y="16824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physics + AI agents + cloud SaaS for NDT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576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731520" y="2029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R&amp;D expenditure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731520" y="2249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dominated by R&amp;D through PB1.0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65760" y="2670048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731520" y="2596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 IP creation + commercialization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731520" y="2816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fleet, cloud platform, HW design owned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365760" y="3236976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576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731520" y="3163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Listed deep tech sector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731520" y="3383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 + AI both fit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4663440" y="10972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BENEFITS BY STRUCTURE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4663440" y="1316736"/>
            <a:ext cx="4114800" cy="2011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663440" y="1463040"/>
            <a:ext cx="4114800" cy="1188720"/>
          </a:xfrm>
          <a:prstGeom prst="rect">
            <a:avLst/>
          </a:prstGeom>
          <a:solidFill>
            <a:srgbClr val="DCFCE7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663440" y="1463040"/>
            <a:ext cx="73152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828032" y="15179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WITH ANY OWNERSHIP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4828032" y="1682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Foreign-owned Indian sub OK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4864608" y="1984248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74336" y="192938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 recognition — 20-yr runway, ₹300 cr ceiling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4864608" y="2121408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974336" y="206654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rebate + fast-track patent filing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4864608" y="2258568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974336" y="220370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procurement access (DRDO, PSUs, customs)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4864608" y="2395728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74336" y="234086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grants (Karnataka, TN, Telangana)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864608" y="2532888"/>
            <a:ext cx="64008" cy="6400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974336" y="2478024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56 angel tax exemption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4663440" y="2761488"/>
            <a:ext cx="4114800" cy="96012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4663440" y="2761488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828032" y="2816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≥51% INDIAN SHAREHOLDING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828032" y="2980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co-founder / partner structure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4864608" y="3282696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974336" y="3218688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80-IAC tax holiday — 3 yrs × 100% exemption (~$1.5-2M value at 2030)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864608" y="3429000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974336" y="3364992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of Funds 2.0 (₹10,000 cr corpus, deep tech focus)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864608" y="3575304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974336" y="3511296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 concessional loans (2–4% interest, up to 15 yrs)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365760" y="3703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WE APPLY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365760" y="3977640"/>
            <a:ext cx="2000250" cy="7772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65760" y="3977640"/>
            <a:ext cx="2000250" cy="6400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75488" y="4123944"/>
            <a:ext cx="256032" cy="256032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75488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768096" y="410565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Incorporate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475488" y="4398264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astraX India Pvt Ltd</a:t>
            </a:r>
            <a:endParaRPr lang="en-US" sz="850"/>
          </a:p>
        </p:txBody>
      </p:sp>
      <p:sp>
        <p:nvSpPr>
          <p:cNvPr id="60" name="Text 58"/>
          <p:cNvSpPr/>
          <p:nvPr/>
        </p:nvSpPr>
        <p:spPr>
          <a:xfrm>
            <a:off x="475488" y="4544568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Ltd (not LLP — FDI rules)</a:t>
            </a:r>
            <a:endParaRPr lang="en-US" sz="800"/>
          </a:p>
        </p:txBody>
      </p:sp>
      <p:sp>
        <p:nvSpPr>
          <p:cNvPr id="61" name="Shape 59"/>
          <p:cNvSpPr/>
          <p:nvPr/>
        </p:nvSpPr>
        <p:spPr>
          <a:xfrm>
            <a:off x="2503170" y="3977640"/>
            <a:ext cx="2000250" cy="7772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2503170" y="3977640"/>
            <a:ext cx="2000250" cy="6400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2612898" y="4123944"/>
            <a:ext cx="256032" cy="256032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2612898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65" name="Text 63"/>
          <p:cNvSpPr/>
          <p:nvPr/>
        </p:nvSpPr>
        <p:spPr>
          <a:xfrm>
            <a:off x="2905506" y="410565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DPIIT register</a:t>
            </a:r>
            <a:endParaRPr lang="en-US" sz="1100"/>
          </a:p>
        </p:txBody>
      </p:sp>
      <p:sp>
        <p:nvSpPr>
          <p:cNvPr id="66" name="Text 64"/>
          <p:cNvSpPr/>
          <p:nvPr/>
        </p:nvSpPr>
        <p:spPr>
          <a:xfrm>
            <a:off x="2612898" y="4398264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portal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2612898" y="4544568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~30-45 days · free</a:t>
            </a:r>
            <a:endParaRPr lang="en-US" sz="800"/>
          </a:p>
        </p:txBody>
      </p:sp>
      <p:sp>
        <p:nvSpPr>
          <p:cNvPr id="68" name="Shape 66"/>
          <p:cNvSpPr/>
          <p:nvPr/>
        </p:nvSpPr>
        <p:spPr>
          <a:xfrm>
            <a:off x="4640580" y="3977640"/>
            <a:ext cx="2000250" cy="7772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4640580" y="3977640"/>
            <a:ext cx="2000250" cy="64008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4750308" y="4123944"/>
            <a:ext cx="256032" cy="256032"/>
          </a:xfrm>
          <a:prstGeom prst="ellipse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4750308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5042916" y="410565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Tech cert</a:t>
            </a:r>
            <a:endParaRPr lang="en-US" sz="1100"/>
          </a:p>
        </p:txBody>
      </p:sp>
      <p:sp>
        <p:nvSpPr>
          <p:cNvPr id="73" name="Text 71"/>
          <p:cNvSpPr/>
          <p:nvPr/>
        </p:nvSpPr>
        <p:spPr>
          <a:xfrm>
            <a:off x="4750308" y="4398264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R&amp;D + IP docs</a:t>
            </a:r>
            <a:endParaRPr lang="en-US" sz="850"/>
          </a:p>
        </p:txBody>
      </p:sp>
      <p:sp>
        <p:nvSpPr>
          <p:cNvPr id="74" name="Text 72"/>
          <p:cNvSpPr/>
          <p:nvPr/>
        </p:nvSpPr>
        <p:spPr>
          <a:xfrm>
            <a:off x="4750308" y="4544568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~60-90 days</a:t>
            </a:r>
            <a:endParaRPr lang="en-US" sz="800"/>
          </a:p>
        </p:txBody>
      </p:sp>
      <p:sp>
        <p:nvSpPr>
          <p:cNvPr id="75" name="Shape 73"/>
          <p:cNvSpPr/>
          <p:nvPr/>
        </p:nvSpPr>
        <p:spPr>
          <a:xfrm>
            <a:off x="6777990" y="3977640"/>
            <a:ext cx="2000250" cy="777240"/>
          </a:xfrm>
          <a:prstGeom prst="rect">
            <a:avLst/>
          </a:prstGeom>
          <a:solidFill>
            <a:srgbClr val="F7FA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6777990" y="3977640"/>
            <a:ext cx="200025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6887718" y="4123944"/>
            <a:ext cx="256032" cy="25603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6887718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79" name="Text 77"/>
          <p:cNvSpPr/>
          <p:nvPr/>
        </p:nvSpPr>
        <p:spPr>
          <a:xfrm>
            <a:off x="7180326" y="4105656"/>
            <a:ext cx="1543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 cert (80-IAC)</a:t>
            </a:r>
            <a:endParaRPr lang="en-US" sz="1100"/>
          </a:p>
        </p:txBody>
      </p:sp>
      <p:sp>
        <p:nvSpPr>
          <p:cNvPr id="80" name="Text 78"/>
          <p:cNvSpPr/>
          <p:nvPr/>
        </p:nvSpPr>
        <p:spPr>
          <a:xfrm>
            <a:off x="6887718" y="4398264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Indian-majority</a:t>
            </a:r>
            <a:endParaRPr lang="en-US" sz="850"/>
          </a:p>
        </p:txBody>
      </p:sp>
      <p:sp>
        <p:nvSpPr>
          <p:cNvPr id="81" name="Text 79"/>
          <p:cNvSpPr/>
          <p:nvPr/>
        </p:nvSpPr>
        <p:spPr>
          <a:xfrm>
            <a:off x="6887718" y="4544568"/>
            <a:ext cx="17807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4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~9-12 months · for tax holiday only</a:t>
            </a:r>
            <a:endParaRPr lang="en-US" sz="800"/>
          </a:p>
        </p:txBody>
      </p:sp>
      <p:sp>
        <p:nvSpPr>
          <p:cNvPr id="82" name="Shape 80"/>
          <p:cNvSpPr/>
          <p:nvPr/>
        </p:nvSpPr>
        <p:spPr>
          <a:xfrm>
            <a:off x="365760" y="4690872"/>
            <a:ext cx="8412480" cy="329184"/>
          </a:xfrm>
          <a:prstGeom prst="rect">
            <a:avLst/>
          </a:prstGeom>
          <a:solidFill>
            <a:srgbClr val="E8F1F3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365760" y="4690872"/>
            <a:ext cx="73152" cy="329184"/>
          </a:xfrm>
          <a:prstGeom prst="rect">
            <a:avLst/>
          </a:prstGeom>
          <a:solidFill>
            <a:srgbClr val="0A4954"/>
          </a:solidFill>
          <a:ln w="12700">
            <a:solidFill>
              <a:srgbClr val="0A49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548640" y="470916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0A4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</a:t>
            </a:r>
            <a:r>
              <a:rPr lang="en-US" sz="900" i="1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wholly-owned Indian sub now — captures recognition + patent + procurement + state grants. Revisit 51%-Indian structure at Series A if lead is India-domiciled.</a:t>
            </a:r>
            <a:endParaRPr lang="en-US" sz="900"/>
          </a:p>
        </p:txBody>
      </p:sp>
      <p:sp>
        <p:nvSpPr>
          <p:cNvPr id="85" name="Text 83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50" i="1">
                <a:solidFill>
                  <a:srgbClr val="4A5C6E"/>
                </a:solidFill>
                <a:latin typeface="Calibri"/>
              </a:rPr>
              <a:t>Astra Business System  ·  India Beachhead  ·  World TAM</a:t>
            </a:r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594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Astra Compounds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5A6273"/>
                </a:solidFill>
                <a:latin typeface="Calibri"/>
                <a:ea typeface="Calibri"/>
                <a:cs typeface="Calibri"/>
              </a:rPr>
              <a:t>Building an </a:t>
            </a:r>
            <a:r>
              <a:rPr lang="en-US" sz="1100" b="1" i="1">
                <a:solidFill>
                  <a:srgbClr val="5A6273"/>
                </a:solidFill>
                <a:latin typeface="Calibri"/>
                <a:ea typeface="Calibri"/>
                <a:cs typeface="Calibri"/>
              </a:rPr>
              <a:t>ai native</a:t>
            </a:r>
            <a:r>
              <a:rPr lang="en-US" sz="1100" i="1">
                <a:solidFill>
                  <a:srgbClr val="5A6273"/>
                </a:solidFill>
                <a:latin typeface="Calibri"/>
                <a:ea typeface="Calibri"/>
                <a:cs typeface="Calibri"/>
              </a:rPr>
              <a:t> industrial operating system — Danaher-style, installed at t=0 — extended across sensors and form factors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78040" y="256032"/>
            <a:ext cx="169164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560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b="1" kern="0" spc="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AAC'sSTRATEGIC</a:t>
            </a:r>
            <a:r>
              <a:rPr lang="en-US" sz="900" b="1" kern="0" spc="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MOAT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kern="0" spc="400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THE ASTRA BUSINESS OPERATING SYSTEM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2070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EDF0FA"/>
                </a:solidFill>
                <a:ea typeface="+mn-lt"/>
                <a:cs typeface="+mn-lt"/>
              </a:rPr>
              <a:t>DBS-grade operating discipline, deployed thru a startup into mature NDT and industrial markets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435608"/>
            <a:ext cx="1929384" cy="777240"/>
          </a:xfrm>
          <a:prstGeom prst="rect">
            <a:avLst/>
          </a:prstGeom>
          <a:solidFill>
            <a:srgbClr val="151B47"/>
          </a:solidFill>
          <a:ln w="6350">
            <a:solidFill>
              <a:srgbClr val="C9A227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704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4904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180136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SME + India eng. AI-assisted spec-driven dev. Same team scales to UT/NIR.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87752" y="1435608"/>
            <a:ext cx="1929384" cy="777240"/>
          </a:xfrm>
          <a:prstGeom prst="rect">
            <a:avLst/>
          </a:prstGeom>
          <a:solidFill>
            <a:srgbClr val="151B47"/>
          </a:solidFill>
          <a:ln w="6350">
            <a:solidFill>
              <a:srgbClr val="C9A22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5270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9232" y="14904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mfg + service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79192" y="180136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mfg &amp; field service partners. Cost base structurally below incumbents.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626864" y="1435608"/>
            <a:ext cx="1929384" cy="777240"/>
          </a:xfrm>
          <a:prstGeom prst="rect">
            <a:avLst/>
          </a:prstGeom>
          <a:solidFill>
            <a:srgbClr val="151B47"/>
          </a:solidFill>
          <a:ln w="6350">
            <a:solidFill>
              <a:srgbClr val="C9A22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15270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38344" y="14904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AI agents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18304" y="180136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cloud, fleet agents, vertical SaaS surface. One platform, every SKU.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665976" y="1435608"/>
            <a:ext cx="1929384" cy="777240"/>
          </a:xfrm>
          <a:prstGeom prst="rect">
            <a:avLst/>
          </a:prstGeom>
          <a:solidFill>
            <a:srgbClr val="151B47"/>
          </a:solidFill>
          <a:ln w="6350">
            <a:solidFill>
              <a:srgbClr val="C9A22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152704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77456" y="149047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AI-led operations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757416" y="180136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Quote-to-ship, support, RMA, content — sub-linear opex as install base grows.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365760" y="23408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OS EXTENDS TO  ▼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65760" y="2578608"/>
            <a:ext cx="8412480" cy="713232"/>
          </a:xfrm>
          <a:prstGeom prst="rect">
            <a:avLst/>
          </a:prstGeom>
          <a:solidFill>
            <a:srgbClr val="FBECE9"/>
          </a:solidFill>
          <a:ln w="9525">
            <a:solidFill>
              <a:srgbClr val="B33A2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65760" y="2578608"/>
            <a:ext cx="73152" cy="713232"/>
          </a:xfrm>
          <a:prstGeom prst="rect">
            <a:avLst/>
          </a:prstGeom>
          <a:solidFill>
            <a:srgbClr val="B33A2A"/>
          </a:solidFill>
          <a:ln w="12700">
            <a:solidFill>
              <a:srgbClr val="B33A2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66928" y="2633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OCEAN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737360" y="2633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markets across 3 form factors × 3 sensors — incumbents (Bruker, Olympus, Thermo, Hitachi) addressable at our cost base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48640" y="2871216"/>
            <a:ext cx="2590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33A2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2871216"/>
            <a:ext cx="240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 </a:t>
            </a:r>
            <a:r>
              <a:rPr lang="en-US" sz="9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76600" y="2871216"/>
            <a:ext cx="2590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33A2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368040" y="2871216"/>
            <a:ext cx="240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Benchtop  </a:t>
            </a:r>
            <a:r>
              <a:rPr lang="en-US" sz="9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QC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004560" y="2871216"/>
            <a:ext cx="2590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33A2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96000" y="2871216"/>
            <a:ext cx="240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 </a:t>
            </a:r>
            <a:r>
              <a:rPr lang="en-US" sz="9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integration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65760" y="33832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OCEAN  —  net-new applications enabled per sensor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65760" y="3602736"/>
            <a:ext cx="2694432" cy="877824"/>
          </a:xfrm>
          <a:prstGeom prst="rect">
            <a:avLst/>
          </a:prstGeom>
          <a:solidFill>
            <a:srgbClr val="E4F2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65760" y="3602736"/>
            <a:ext cx="2694432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5488" y="3694176"/>
            <a:ext cx="251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astra-XRF</a:t>
            </a:r>
            <a:r>
              <a:rPr lang="en-US" sz="8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current — proving the OS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493776" y="3968496"/>
            <a:ext cx="54864" cy="548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03504" y="3913632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Cash-for-Gold kiosks (India retail)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493776" y="4133088"/>
            <a:ext cx="54864" cy="548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03504" y="4078224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sorting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493776" y="4297680"/>
            <a:ext cx="54864" cy="548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03504" y="4242816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/ agri scanning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3224784" y="3602736"/>
            <a:ext cx="2694432" cy="877824"/>
          </a:xfrm>
          <a:prstGeom prst="rect">
            <a:avLst/>
          </a:prstGeom>
          <a:solidFill>
            <a:srgbClr val="FBEAE3"/>
          </a:solidFill>
          <a:ln w="9525">
            <a:solidFill>
              <a:srgbClr val="C2563C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224784" y="3602736"/>
            <a:ext cx="2694432" cy="54864"/>
          </a:xfrm>
          <a:prstGeom prst="rect">
            <a:avLst/>
          </a:prstGeom>
          <a:solidFill>
            <a:srgbClr val="C2563C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3334512" y="3694176"/>
            <a:ext cx="251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astra-UT</a:t>
            </a:r>
            <a:r>
              <a:rPr lang="en-US" sz="8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next sensor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3352800" y="3968496"/>
            <a:ext cx="54864" cy="54864"/>
          </a:xfrm>
          <a:prstGeom prst="ellipse">
            <a:avLst/>
          </a:prstGeom>
          <a:solidFill>
            <a:srgbClr val="C2563C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462528" y="3913632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Pipeline / City gas </a:t>
            </a:r>
            <a:r>
              <a:rPr lang="en-US" sz="85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distribution inspection</a:t>
            </a:r>
            <a:endParaRPr lang="en-US" sz="850"/>
          </a:p>
        </p:txBody>
      </p:sp>
      <p:sp>
        <p:nvSpPr>
          <p:cNvPr id="52" name="Shape 46"/>
          <p:cNvSpPr/>
          <p:nvPr/>
        </p:nvSpPr>
        <p:spPr>
          <a:xfrm>
            <a:off x="3352800" y="4133088"/>
            <a:ext cx="54864" cy="54864"/>
          </a:xfrm>
          <a:prstGeom prst="ellipse">
            <a:avLst/>
          </a:prstGeom>
          <a:solidFill>
            <a:srgbClr val="C2563C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3462528" y="4078224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O&amp;G Mechanical Integrity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3352800" y="4297680"/>
            <a:ext cx="54864" cy="54864"/>
          </a:xfrm>
          <a:prstGeom prst="ellipse">
            <a:avLst/>
          </a:prstGeom>
          <a:solidFill>
            <a:srgbClr val="C2563C"/>
          </a:solidFill>
          <a:ln w="12700">
            <a:solidFill>
              <a:srgbClr val="C2563C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3462528" y="4242816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Power Gen </a:t>
            </a:r>
            <a:r>
              <a:rPr lang="en-US" sz="85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inspections</a:t>
            </a:r>
            <a:endParaRPr lang="en-US" sz="850" dirty="0">
              <a:solidFill>
                <a:srgbClr val="1A1F2B"/>
              </a:solidFill>
              <a:ea typeface="Calibri"/>
              <a:cs typeface="Calibri"/>
            </a:endParaRPr>
          </a:p>
        </p:txBody>
      </p:sp>
      <p:sp>
        <p:nvSpPr>
          <p:cNvPr id="56" name="Shape 50"/>
          <p:cNvSpPr/>
          <p:nvPr/>
        </p:nvSpPr>
        <p:spPr>
          <a:xfrm>
            <a:off x="6083808" y="3602736"/>
            <a:ext cx="2694432" cy="877824"/>
          </a:xfrm>
          <a:prstGeom prst="rect">
            <a:avLst/>
          </a:prstGeom>
          <a:solidFill>
            <a:srgbClr val="FAF1D7"/>
          </a:solidFill>
          <a:ln w="9525">
            <a:solidFill>
              <a:srgbClr val="B08010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083808" y="3602736"/>
            <a:ext cx="2694432" cy="54864"/>
          </a:xfrm>
          <a:prstGeom prst="rect">
            <a:avLst/>
          </a:prstGeom>
          <a:solidFill>
            <a:srgbClr val="B08010"/>
          </a:solidFill>
          <a:ln w="12700">
            <a:solidFill>
              <a:srgbClr val="B08010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6193536" y="3694176"/>
            <a:ext cx="251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8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astra-NIR</a:t>
            </a:r>
            <a:r>
              <a:rPr lang="en-US" sz="8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future sensor</a:t>
            </a:r>
            <a:endParaRPr lang="en-US" sz="1150" dirty="0"/>
          </a:p>
        </p:txBody>
      </p:sp>
      <p:sp>
        <p:nvSpPr>
          <p:cNvPr id="59" name="Shape 53"/>
          <p:cNvSpPr/>
          <p:nvPr/>
        </p:nvSpPr>
        <p:spPr>
          <a:xfrm>
            <a:off x="6211824" y="3968496"/>
            <a:ext cx="54864" cy="54864"/>
          </a:xfrm>
          <a:prstGeom prst="ellipse">
            <a:avLst/>
          </a:prstGeom>
          <a:solidFill>
            <a:srgbClr val="B08010"/>
          </a:solidFill>
          <a:ln w="12700">
            <a:solidFill>
              <a:srgbClr val="B08010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6321552" y="3913632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&amp; adulterants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6211824" y="4133088"/>
            <a:ext cx="54864" cy="54864"/>
          </a:xfrm>
          <a:prstGeom prst="ellipse">
            <a:avLst/>
          </a:prstGeom>
          <a:solidFill>
            <a:srgbClr val="B08010"/>
          </a:solidFill>
          <a:ln w="12700">
            <a:solidFill>
              <a:srgbClr val="B08010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6321552" y="4078224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raw-material ID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6211824" y="4297680"/>
            <a:ext cx="54864" cy="54864"/>
          </a:xfrm>
          <a:prstGeom prst="ellipse">
            <a:avLst/>
          </a:prstGeom>
          <a:solidFill>
            <a:srgbClr val="B08010"/>
          </a:solidFill>
          <a:ln w="12700">
            <a:solidFill>
              <a:srgbClr val="B08010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6321552" y="4242816"/>
            <a:ext cx="2365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grain grading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365760" y="4535424"/>
            <a:ext cx="8412480" cy="475488"/>
          </a:xfrm>
          <a:prstGeom prst="rect">
            <a:avLst/>
          </a:prstGeom>
          <a:solidFill>
            <a:srgbClr val="F7EFD3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365760" y="4535424"/>
            <a:ext cx="73152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6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672584"/>
            <a:ext cx="201168" cy="201168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822960" y="4590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950" dirty="0"/>
          </a:p>
          <a:p>
            <a:pPr marL="0" indent="0">
              <a:buNone/>
            </a:pPr>
            <a:r>
              <a:rPr lang="en-US" sz="9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950" dirty="0"/>
          </a:p>
        </p:txBody>
      </p:sp>
      <p:sp>
        <p:nvSpPr>
          <p:cNvPr id="69" name="Shape 62"/>
          <p:cNvSpPr/>
          <p:nvPr/>
        </p:nvSpPr>
        <p:spPr>
          <a:xfrm>
            <a:off x="2240280" y="4608576"/>
            <a:ext cx="0" cy="329184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2377440" y="453542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Incumbents need a strategic acquisition + years to retrofit this OS. Astra ships it from unit #1 — every future owner </a:t>
            </a:r>
            <a:r>
              <a:rPr lang="en-US" sz="1000" i="1" dirty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inherits the compounding.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4494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 Core Values — Individual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each need to be — six principles for personal mastery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78040" y="256032"/>
            <a:ext cx="169164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560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5832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6128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124712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that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1527048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capability lives within each of us. The work is to remove what gets in the way.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231136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26771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Tvam Asi · Chandogya Upanishad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24784" y="960120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4784" y="960120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24784" y="960120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4856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664" y="1161288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1712" y="1124712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is what you repeat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407664" y="1527048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become words, words become habits, habits become character. Be careful what you practice.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407664" y="2231136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7664" y="226771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tradition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083808" y="960120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83808" y="960120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83808" y="960120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83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688" y="1161288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50736" y="1124712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effort, no attachment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266688" y="1527048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work fully and well. Don't let outcome-anxiety corrupt the work itself.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266688" y="2231136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66688" y="226771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Bhagavad Gita 2.47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365760" y="2688336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2688336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65760" y="2688336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465832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889504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32688" y="2852928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change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548640" y="3255264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embody what we ask of others. No 'do as I say'. The team becomes what its leaders practice.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48640" y="3959352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3995928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Mahatma Gandhi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3224784" y="2688336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3224784" y="2688336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224784" y="2688336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324856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7664" y="2889504"/>
            <a:ext cx="292608" cy="29260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791712" y="2852928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through discomfort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3407664" y="3255264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Stressors strengthen. Outside the comfort zone is where the learning lives. Failure is information.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3407664" y="3959352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407664" y="3995928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Taleb · Dweck · antifragile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6083808" y="2688336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6083808" y="2688336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083808" y="2688336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8183880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688" y="2889504"/>
            <a:ext cx="292608" cy="29260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650736" y="2852928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yourself clearly</a:t>
            </a:r>
            <a:endParaRPr lang="en-US" sz="1250" dirty="0"/>
          </a:p>
        </p:txBody>
      </p:sp>
      <p:sp>
        <p:nvSpPr>
          <p:cNvPr id="57" name="Text 49"/>
          <p:cNvSpPr/>
          <p:nvPr/>
        </p:nvSpPr>
        <p:spPr>
          <a:xfrm>
            <a:off x="6266688" y="3255264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blind to our blindness. Self-awareness and delayed gratification beat impulse, every time.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6266688" y="3959352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6266688" y="3995928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Kahneman · Goleman · Nietzsche</a:t>
            </a:r>
            <a:endParaRPr lang="en-US" sz="750" dirty="0"/>
          </a:p>
        </p:txBody>
      </p:sp>
      <p:sp>
        <p:nvSpPr>
          <p:cNvPr id="60" name="Shape 5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365760" y="4434840"/>
            <a:ext cx="841248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48640" y="44897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VEDANTA  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Self-mastery is the foundation. Before we operate well together, we must operate well within ourselves.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14501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 Core Values — Organizational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 — six principles for team performance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78040" y="256032"/>
            <a:ext cx="169164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5603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5832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6128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124712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friction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1527048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Stones become gems by grinding against each other. We hold conflict well — never avoid it.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231136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26771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Jobs (rock tumbler) · Lencioni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24784" y="960120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4784" y="960120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24784" y="960120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4856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664" y="1161288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1712" y="1124712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407664" y="1527048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our most cherished assumptions are revisable when evidence demands. Dissolve to renew.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407664" y="2231136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7664" y="226771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 tatva · 3 Box Solution (Box 3)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083808" y="960120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83808" y="960120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83808" y="960120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83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688" y="1161288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50736" y="1124712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Disagree, then commit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266688" y="1527048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hard while the decision is being made. Once made, commit fully — including those who disagreed.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266688" y="2231136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66688" y="226771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Grove (Intel)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365760" y="2688336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2688336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65760" y="2688336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465832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889504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32688" y="2852928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it, measure it, ship it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548640" y="3255264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publicly. Instrument the work. If we can't measure it, we can't control it.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48640" y="3959352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3995928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management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3224784" y="2688336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3224784" y="2688336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224784" y="2688336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324856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7664" y="2889504"/>
            <a:ext cx="292608" cy="29260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791712" y="2852928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an owner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3407664" y="3255264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in the game. Decisions at the edge, closest to the work. Real accountability, not theater.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3407664" y="3959352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407664" y="3995928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Taleb · ownership culture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6083808" y="2688336"/>
            <a:ext cx="2694432" cy="1563624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6083808" y="2688336"/>
            <a:ext cx="54864" cy="1563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083808" y="2688336"/>
            <a:ext cx="5486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8183880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688" y="2889504"/>
            <a:ext cx="292608" cy="29260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650736" y="2852928"/>
            <a:ext cx="159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then over-communicate</a:t>
            </a:r>
            <a:endParaRPr lang="en-US" sz="1250" dirty="0"/>
          </a:p>
        </p:txBody>
      </p:sp>
      <p:sp>
        <p:nvSpPr>
          <p:cNvPr id="57" name="Text 49"/>
          <p:cNvSpPr/>
          <p:nvPr/>
        </p:nvSpPr>
        <p:spPr>
          <a:xfrm>
            <a:off x="6266688" y="3255264"/>
            <a:ext cx="232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at the front — define the problem deeply. Fast at the back. There is no such thing as too much communication.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6266688" y="3959352"/>
            <a:ext cx="2328672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6266688" y="3995928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Lencioni · propose-review-update</a:t>
            </a:r>
            <a:endParaRPr lang="en-US" sz="750" dirty="0"/>
          </a:p>
        </p:txBody>
      </p:sp>
      <p:sp>
        <p:nvSpPr>
          <p:cNvPr id="60" name="Shape 5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365760" y="4434840"/>
            <a:ext cx="841248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48640" y="44897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MODERN PRACTICE  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Mastery scales only through honest team behavior. These principles turn individual capability into collective compounding.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371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ABS Operating Flywheel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supporting one virtuous loop — producing compounding value for customer, team, and investor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78040" y="201168"/>
            <a:ext cx="16916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THESIS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62846" y="1234440"/>
            <a:ext cx="2194560" cy="21945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1718" y="1353312"/>
            <a:ext cx="1956816" cy="1956816"/>
          </a:xfrm>
          <a:prstGeom prst="ellipse">
            <a:avLst/>
          </a:prstGeom>
          <a:solidFill>
            <a:srgbClr val="EDF0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0630" y="1792224"/>
            <a:ext cx="1078992" cy="10789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57206" y="1828800"/>
            <a:ext cx="1005840" cy="1005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206" y="2057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050" dirty="0"/>
          </a:p>
          <a:p>
            <a:pPr algn="ctr"/>
            <a:r>
              <a:rPr lang="en-US" sz="900" i="1">
                <a:solidFill>
                  <a:srgbClr val="1E2761"/>
                </a:solidFill>
                <a:latin typeface="Georgia"/>
                <a:ea typeface="Calibri" panose="020F0502020204030204"/>
                <a:cs typeface="Calibri" panose="020F0502020204030204"/>
              </a:rPr>
              <a:t>Centric</a:t>
            </a:r>
            <a:endParaRPr lang="en-US" sz="1050" dirty="0">
              <a:solidFill>
                <a:srgbClr val="000000"/>
              </a:solidFill>
              <a:latin typeface="Georgia"/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Georgia"/>
              </a:rPr>
              <a:t>&amp;</a:t>
            </a:r>
            <a:endParaRPr lang="en-US" sz="900" i="1" dirty="0">
              <a:solidFill>
                <a:srgbClr val="1E2761"/>
              </a:solidFill>
              <a:latin typeface="Georgia"/>
            </a:endParaRPr>
          </a:p>
          <a:p>
            <a:pPr algn="ctr"/>
            <a:r>
              <a:rPr lang="en-US" sz="900" b="1" i="1">
                <a:solidFill>
                  <a:srgbClr val="1E2761"/>
                </a:solidFill>
                <a:latin typeface="Georgia"/>
              </a:rPr>
              <a:t>Differentiating</a:t>
            </a:r>
          </a:p>
          <a:p>
            <a:pPr algn="ctr"/>
            <a:r>
              <a:rPr lang="en-US" sz="900" b="1" i="1">
                <a:solidFill>
                  <a:srgbClr val="1E2761"/>
                </a:solidFill>
                <a:latin typeface="Georgia"/>
              </a:rPr>
              <a:t>experiments</a:t>
            </a:r>
            <a:endParaRPr lang="en-US" sz="900" b="1" i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78688" y="1543250"/>
            <a:ext cx="332876" cy="24184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8446" y="2391040"/>
            <a:ext cx="0" cy="391319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65854" y="3156852"/>
            <a:ext cx="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38953" y="2782359"/>
            <a:ext cx="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4701885" y="1580992"/>
            <a:ext cx="326072" cy="224517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1526" y="1298448"/>
            <a:ext cx="457200" cy="4572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398" y="1417320"/>
            <a:ext cx="219456" cy="21945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896815" y="1854463"/>
            <a:ext cx="457200" cy="4572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687" y="1973335"/>
            <a:ext cx="219456" cy="21945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604500" y="2754113"/>
            <a:ext cx="457200" cy="4572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372" y="2872985"/>
            <a:ext cx="21945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58552" y="2754113"/>
            <a:ext cx="457200" cy="4572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424" y="2872985"/>
            <a:ext cx="219456" cy="21945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366237" y="1854463"/>
            <a:ext cx="457200" cy="45720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109" y="1973335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48646" y="9692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6148758" y="18411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5690356" y="32520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206936" y="32520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3748534" y="18411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6484838" y="2382012"/>
            <a:ext cx="448056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5360126" y="3429000"/>
            <a:ext cx="0" cy="67665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5524718" y="3584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ABS</a:t>
            </a:r>
            <a:endParaRPr lang="en-US" sz="950" dirty="0"/>
          </a:p>
          <a:p>
            <a:pPr marL="0" indent="0">
              <a:buNone/>
            </a:pPr>
            <a:r>
              <a:rPr lang="en-US" sz="8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loop's learnings strengthen all five pillars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65760" y="4123944"/>
            <a:ext cx="8412480" cy="182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177747" y="4133088"/>
            <a:ext cx="0" cy="11887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874874" y="4133088"/>
            <a:ext cx="0" cy="11887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572000" y="4133088"/>
            <a:ext cx="0" cy="11887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69126" y="4133088"/>
            <a:ext cx="0" cy="11887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966253" y="4133088"/>
            <a:ext cx="0" cy="11887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033260" y="1972982"/>
            <a:ext cx="2044338" cy="811257"/>
          </a:xfrm>
          <a:prstGeom prst="rect">
            <a:avLst/>
          </a:prstGeom>
          <a:solidFill>
            <a:srgbClr val="F7F8FB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006046" y="1993392"/>
            <a:ext cx="54864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163835" y="2052719"/>
            <a:ext cx="1910987" cy="67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DELIVER PRODUCTS</a:t>
            </a:r>
            <a:endParaRPr lang="en-US" sz="1000">
              <a:latin typeface="Calibri"/>
              <a:ea typeface="Calibri"/>
              <a:cs typeface="Calibri"/>
            </a:endParaRPr>
          </a:p>
          <a:p>
            <a:r>
              <a:rPr lang="en-US" sz="900" i="1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XRF HW + SW Solution — value creation </a:t>
            </a:r>
            <a:r>
              <a:rPr lang="en-US" sz="900" i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for all stakeholders (customer, team, </a:t>
            </a:r>
            <a:r>
              <a:rPr lang="en-US" sz="900" i="1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and </a:t>
            </a:r>
            <a:r>
              <a:rPr lang="en-US" sz="900" i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investor).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365760" y="914400"/>
            <a:ext cx="24231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65760" y="914400"/>
            <a:ext cx="54864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65760" y="914400"/>
            <a:ext cx="54864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1033272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59536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859536" y="11887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of the loop</a:t>
            </a:r>
            <a:endParaRPr lang="en-US" sz="800" dirty="0"/>
          </a:p>
        </p:txBody>
      </p:sp>
      <p:sp>
        <p:nvSpPr>
          <p:cNvPr id="49" name="Shape 41"/>
          <p:cNvSpPr/>
          <p:nvPr/>
        </p:nvSpPr>
        <p:spPr>
          <a:xfrm>
            <a:off x="530352" y="1371600"/>
            <a:ext cx="2148840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66928" y="1463040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58368" y="14081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instruments every cycle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566928" y="1627632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58368" y="15727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More complete XRF solution per segment</a:t>
            </a:r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566928" y="1792224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58368" y="1737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total cost of ownership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365760" y="1993392"/>
            <a:ext cx="24231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65760" y="1993392"/>
            <a:ext cx="54864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365760" y="1993392"/>
            <a:ext cx="54864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2112264"/>
            <a:ext cx="256032" cy="256032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59536" y="20848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61" name="Text 52"/>
          <p:cNvSpPr/>
          <p:nvPr/>
        </p:nvSpPr>
        <p:spPr>
          <a:xfrm>
            <a:off x="859536" y="22677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of the loop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530352" y="2450592"/>
            <a:ext cx="2148840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566928" y="2542032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658368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ownership; decisions at the edge</a:t>
            </a:r>
            <a:endParaRPr lang="en-US" sz="800" dirty="0"/>
          </a:p>
        </p:txBody>
      </p:sp>
      <p:sp>
        <p:nvSpPr>
          <p:cNvPr id="65" name="Shape 56"/>
          <p:cNvSpPr/>
          <p:nvPr/>
        </p:nvSpPr>
        <p:spPr>
          <a:xfrm>
            <a:off x="566928" y="2706624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658368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Meaningful </a:t>
            </a:r>
            <a:r>
              <a:rPr lang="en-US" sz="800" dirty="0" err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cust</a:t>
            </a:r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omer centric craft</a:t>
            </a:r>
            <a:endParaRPr lang="en-US" sz="800">
              <a:solidFill>
                <a:srgbClr val="3A4150"/>
              </a:solidFill>
              <a:ea typeface="Calibri"/>
              <a:cs typeface="Calibri"/>
            </a:endParaRPr>
          </a:p>
        </p:txBody>
      </p:sp>
      <p:sp>
        <p:nvSpPr>
          <p:cNvPr id="67" name="Shape 58"/>
          <p:cNvSpPr/>
          <p:nvPr/>
        </p:nvSpPr>
        <p:spPr>
          <a:xfrm>
            <a:off x="566928" y="2871216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658368" y="28163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in the compounding outcome</a:t>
            </a:r>
            <a:endParaRPr lang="en-US" sz="800" dirty="0"/>
          </a:p>
        </p:txBody>
      </p:sp>
      <p:sp>
        <p:nvSpPr>
          <p:cNvPr id="69" name="Shape 60"/>
          <p:cNvSpPr/>
          <p:nvPr/>
        </p:nvSpPr>
        <p:spPr>
          <a:xfrm>
            <a:off x="365760" y="3072384"/>
            <a:ext cx="2423160" cy="960120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365760" y="3072384"/>
            <a:ext cx="54864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365760" y="3072384"/>
            <a:ext cx="54864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" y="3191256"/>
            <a:ext cx="256032" cy="256032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859536" y="31638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050" dirty="0"/>
          </a:p>
        </p:txBody>
      </p:sp>
      <p:sp>
        <p:nvSpPr>
          <p:cNvPr id="74" name="Text 64"/>
          <p:cNvSpPr/>
          <p:nvPr/>
        </p:nvSpPr>
        <p:spPr>
          <a:xfrm>
            <a:off x="859536" y="334670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beneficiary of compounding</a:t>
            </a:r>
            <a:endParaRPr lang="en-US" sz="800" dirty="0"/>
          </a:p>
        </p:txBody>
      </p:sp>
      <p:sp>
        <p:nvSpPr>
          <p:cNvPr id="75" name="Shape 65"/>
          <p:cNvSpPr/>
          <p:nvPr/>
        </p:nvSpPr>
        <p:spPr>
          <a:xfrm>
            <a:off x="530352" y="3529584"/>
            <a:ext cx="2148840" cy="0"/>
          </a:xfrm>
          <a:prstGeom prst="line">
            <a:avLst/>
          </a:prstGeom>
          <a:noFill/>
          <a:ln w="6350">
            <a:solidFill>
              <a:srgbClr val="C7CCD6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566928" y="3621024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658368" y="35661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Capital-efficient scaling via AI &amp; India ops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78" name="Shape 68"/>
          <p:cNvSpPr/>
          <p:nvPr/>
        </p:nvSpPr>
        <p:spPr>
          <a:xfrm>
            <a:off x="566928" y="3785616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9" name="Text 69"/>
          <p:cNvSpPr/>
          <p:nvPr/>
        </p:nvSpPr>
        <p:spPr>
          <a:xfrm>
            <a:off x="658368" y="37307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Multi-sensor optionality across XRF/Xray BS/NIR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80" name="Shape 70"/>
          <p:cNvSpPr/>
          <p:nvPr/>
        </p:nvSpPr>
        <p:spPr>
          <a:xfrm>
            <a:off x="566928" y="3950208"/>
            <a:ext cx="45720" cy="45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1" name="Text 71"/>
          <p:cNvSpPr/>
          <p:nvPr/>
        </p:nvSpPr>
        <p:spPr>
          <a:xfrm>
            <a:off x="658368" y="38953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Strategic-acquirer appeal as DBS-equivalent</a:t>
            </a:r>
            <a:endParaRPr lang="en-US" sz="800" dirty="0"/>
          </a:p>
        </p:txBody>
      </p:sp>
      <p:sp>
        <p:nvSpPr>
          <p:cNvPr id="82" name="Shape 72"/>
          <p:cNvSpPr/>
          <p:nvPr/>
        </p:nvSpPr>
        <p:spPr>
          <a:xfrm>
            <a:off x="365760" y="4251960"/>
            <a:ext cx="162397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365760" y="4251960"/>
            <a:ext cx="1623974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8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" y="4434840"/>
            <a:ext cx="256032" cy="256032"/>
          </a:xfrm>
          <a:prstGeom prst="rect">
            <a:avLst/>
          </a:prstGeom>
        </p:spPr>
      </p:pic>
      <p:sp>
        <p:nvSpPr>
          <p:cNvPr id="85" name="Text 74"/>
          <p:cNvSpPr/>
          <p:nvPr/>
        </p:nvSpPr>
        <p:spPr>
          <a:xfrm>
            <a:off x="786384" y="4361688"/>
            <a:ext cx="11484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1000" dirty="0"/>
          </a:p>
        </p:txBody>
      </p:sp>
      <p:sp>
        <p:nvSpPr>
          <p:cNvPr id="86" name="Text 75"/>
          <p:cNvSpPr/>
          <p:nvPr/>
        </p:nvSpPr>
        <p:spPr>
          <a:xfrm>
            <a:off x="786384" y="459943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850" dirty="0"/>
          </a:p>
        </p:txBody>
      </p:sp>
      <p:sp>
        <p:nvSpPr>
          <p:cNvPr id="87" name="Shape 76"/>
          <p:cNvSpPr/>
          <p:nvPr/>
        </p:nvSpPr>
        <p:spPr>
          <a:xfrm>
            <a:off x="2062886" y="4251960"/>
            <a:ext cx="162397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8" name="Shape 77"/>
          <p:cNvSpPr/>
          <p:nvPr/>
        </p:nvSpPr>
        <p:spPr>
          <a:xfrm>
            <a:off x="2062886" y="4251960"/>
            <a:ext cx="1623974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8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2614" y="4434840"/>
            <a:ext cx="256032" cy="256032"/>
          </a:xfrm>
          <a:prstGeom prst="rect">
            <a:avLst/>
          </a:prstGeom>
        </p:spPr>
      </p:pic>
      <p:sp>
        <p:nvSpPr>
          <p:cNvPr id="90" name="Text 78"/>
          <p:cNvSpPr/>
          <p:nvPr/>
        </p:nvSpPr>
        <p:spPr>
          <a:xfrm>
            <a:off x="2483510" y="4361688"/>
            <a:ext cx="11484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Model</a:t>
            </a:r>
            <a:endParaRPr lang="en-US" sz="1000" dirty="0"/>
          </a:p>
        </p:txBody>
      </p:sp>
      <p:sp>
        <p:nvSpPr>
          <p:cNvPr id="91" name="Text 79"/>
          <p:cNvSpPr/>
          <p:nvPr/>
        </p:nvSpPr>
        <p:spPr>
          <a:xfrm>
            <a:off x="2483510" y="459943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</a:t>
            </a:r>
            <a:endParaRPr lang="en-US" sz="850" dirty="0"/>
          </a:p>
        </p:txBody>
      </p:sp>
      <p:sp>
        <p:nvSpPr>
          <p:cNvPr id="92" name="Shape 80"/>
          <p:cNvSpPr/>
          <p:nvPr/>
        </p:nvSpPr>
        <p:spPr>
          <a:xfrm>
            <a:off x="3760013" y="4251960"/>
            <a:ext cx="162397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3760013" y="4251960"/>
            <a:ext cx="1623974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9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9741" y="4434840"/>
            <a:ext cx="256032" cy="256032"/>
          </a:xfrm>
          <a:prstGeom prst="rect">
            <a:avLst/>
          </a:prstGeom>
        </p:spPr>
      </p:pic>
      <p:sp>
        <p:nvSpPr>
          <p:cNvPr id="95" name="Text 82"/>
          <p:cNvSpPr/>
          <p:nvPr/>
        </p:nvSpPr>
        <p:spPr>
          <a:xfrm>
            <a:off x="4180637" y="4361688"/>
            <a:ext cx="11484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&amp; Service</a:t>
            </a:r>
            <a:endParaRPr lang="en-US" sz="1000" dirty="0"/>
          </a:p>
        </p:txBody>
      </p:sp>
      <p:sp>
        <p:nvSpPr>
          <p:cNvPr id="96" name="Text 83"/>
          <p:cNvSpPr/>
          <p:nvPr/>
        </p:nvSpPr>
        <p:spPr>
          <a:xfrm>
            <a:off x="4180637" y="459943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D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850" dirty="0"/>
          </a:p>
        </p:txBody>
      </p:sp>
      <p:sp>
        <p:nvSpPr>
          <p:cNvPr id="97" name="Shape 84"/>
          <p:cNvSpPr/>
          <p:nvPr/>
        </p:nvSpPr>
        <p:spPr>
          <a:xfrm>
            <a:off x="5457139" y="4251960"/>
            <a:ext cx="162397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8" name="Shape 85"/>
          <p:cNvSpPr/>
          <p:nvPr/>
        </p:nvSpPr>
        <p:spPr>
          <a:xfrm>
            <a:off x="5457139" y="4251960"/>
            <a:ext cx="1623974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9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6867" y="4434840"/>
            <a:ext cx="256032" cy="256032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5877763" y="4361688"/>
            <a:ext cx="11484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AI Platform</a:t>
            </a:r>
            <a:endParaRPr lang="en-US" sz="1000" dirty="0"/>
          </a:p>
        </p:txBody>
      </p:sp>
      <p:sp>
        <p:nvSpPr>
          <p:cNvPr id="101" name="Text 87"/>
          <p:cNvSpPr/>
          <p:nvPr/>
        </p:nvSpPr>
        <p:spPr>
          <a:xfrm>
            <a:off x="5877763" y="459943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EDF0FA"/>
                </a:solidFill>
                <a:latin typeface="Calibri"/>
                <a:ea typeface="Calibri"/>
                <a:cs typeface="Calibri"/>
              </a:rPr>
              <a:t>How we delight</a:t>
            </a:r>
            <a:endParaRPr lang="en-US" sz="850" dirty="0"/>
          </a:p>
        </p:txBody>
      </p:sp>
      <p:sp>
        <p:nvSpPr>
          <p:cNvPr id="102" name="Shape 88"/>
          <p:cNvSpPr/>
          <p:nvPr/>
        </p:nvSpPr>
        <p:spPr>
          <a:xfrm>
            <a:off x="7154266" y="4251960"/>
            <a:ext cx="1623974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3" name="Shape 89"/>
          <p:cNvSpPr/>
          <p:nvPr/>
        </p:nvSpPr>
        <p:spPr>
          <a:xfrm>
            <a:off x="7154266" y="4251960"/>
            <a:ext cx="1623974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0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3994" y="4434840"/>
            <a:ext cx="256032" cy="256032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7574890" y="4361688"/>
            <a:ext cx="11484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AI-led Operations</a:t>
            </a:r>
            <a:endParaRPr lang="en-US" sz="1000" dirty="0"/>
          </a:p>
        </p:txBody>
      </p:sp>
      <p:sp>
        <p:nvSpPr>
          <p:cNvPr id="106" name="Text 91"/>
          <p:cNvSpPr/>
          <p:nvPr/>
        </p:nvSpPr>
        <p:spPr>
          <a:xfrm>
            <a:off x="7574890" y="459943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>
                <a:solidFill>
                  <a:srgbClr val="EDF0FA"/>
                </a:solidFill>
                <a:latin typeface="Calibri"/>
                <a:ea typeface="Calibri"/>
                <a:cs typeface="Calibri"/>
              </a:rPr>
              <a:t>How we run (great CX)</a:t>
            </a:r>
            <a:endParaRPr lang="en-US" sz="850" dirty="0"/>
          </a:p>
        </p:txBody>
      </p:sp>
      <p:sp>
        <p:nvSpPr>
          <p:cNvPr id="107" name="Shape 24">
            <a:extLst>
              <a:ext uri="{FF2B5EF4-FFF2-40B4-BE49-F238E27FC236}">
                <a16:creationId xmlns:a16="http://schemas.microsoft.com/office/drawing/2014/main" id="{BCD5E9D3-CC82-20C7-0EAC-8BFE9BA7F541}"/>
              </a:ext>
            </a:extLst>
          </p:cNvPr>
          <p:cNvSpPr/>
          <p:nvPr/>
        </p:nvSpPr>
        <p:spPr>
          <a:xfrm>
            <a:off x="4539018" y="1068924"/>
            <a:ext cx="495681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09" name="Shape 33">
            <a:extLst>
              <a:ext uri="{FF2B5EF4-FFF2-40B4-BE49-F238E27FC236}">
                <a16:creationId xmlns:a16="http://schemas.microsoft.com/office/drawing/2014/main" id="{BFCFA155-7F98-FD0D-CFB2-36BC98C1F7F9}"/>
              </a:ext>
            </a:extLst>
          </p:cNvPr>
          <p:cNvSpPr/>
          <p:nvPr/>
        </p:nvSpPr>
        <p:spPr>
          <a:xfrm>
            <a:off x="2923902" y="755141"/>
            <a:ext cx="1602107" cy="790847"/>
          </a:xfrm>
          <a:prstGeom prst="rect">
            <a:avLst/>
          </a:prstGeom>
          <a:solidFill>
            <a:srgbClr val="F7F8FB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0" name="Shape 34">
            <a:extLst>
              <a:ext uri="{FF2B5EF4-FFF2-40B4-BE49-F238E27FC236}">
                <a16:creationId xmlns:a16="http://schemas.microsoft.com/office/drawing/2014/main" id="{42D3B6A7-A3E6-82AF-6768-416D38408805}"/>
              </a:ext>
            </a:extLst>
          </p:cNvPr>
          <p:cNvSpPr/>
          <p:nvPr/>
        </p:nvSpPr>
        <p:spPr>
          <a:xfrm>
            <a:off x="2835456" y="755143"/>
            <a:ext cx="88881" cy="797651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1" name="Text 35">
            <a:extLst>
              <a:ext uri="{FF2B5EF4-FFF2-40B4-BE49-F238E27FC236}">
                <a16:creationId xmlns:a16="http://schemas.microsoft.com/office/drawing/2014/main" id="{29845A6D-B104-A5D7-360F-87663A033955}"/>
              </a:ext>
            </a:extLst>
          </p:cNvPr>
          <p:cNvSpPr/>
          <p:nvPr/>
        </p:nvSpPr>
        <p:spPr>
          <a:xfrm>
            <a:off x="3047673" y="800862"/>
            <a:ext cx="1468755" cy="67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Hypothesis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900" i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Eg1.</a:t>
            </a:r>
            <a:r>
              <a:rPr lang="en-US" sz="900" i="1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 We will build device weighing less than 1.5kg</a:t>
            </a:r>
          </a:p>
          <a:p>
            <a:pPr marL="171450" indent="-171450">
              <a:buFont typeface="Arial"/>
              <a:buChar char="•"/>
            </a:pPr>
            <a:r>
              <a:rPr lang="en-US" sz="900" i="1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Eg2. </a:t>
            </a:r>
            <a:r>
              <a:rPr lang="en-US" sz="900" i="1" dirty="0" err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ReCycling</a:t>
            </a:r>
            <a:r>
              <a:rPr lang="en-US" sz="900" i="1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 customer benefits from a SaaS component</a:t>
            </a:r>
            <a:endParaRPr lang="en-US" sz="900" i="1">
              <a:solidFill>
                <a:srgbClr val="3A415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4285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Astra Team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capability — XRF physics, mechanical, embedded, cloud/AI, operations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60920" y="201168"/>
            <a:ext cx="150876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75120" y="566928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5303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78040" y="566928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818120" y="548640"/>
            <a:ext cx="3657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5486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5303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Matter Expert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822960"/>
            <a:ext cx="14173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822960"/>
            <a:ext cx="36576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950976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4672" y="89611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Management</a:t>
            </a:r>
          </a:p>
        </p:txBody>
      </p:sp>
      <p:sp>
        <p:nvSpPr>
          <p:cNvPr id="17" name="Shape 14"/>
          <p:cNvSpPr/>
          <p:nvPr/>
        </p:nvSpPr>
        <p:spPr>
          <a:xfrm>
            <a:off x="1856232" y="822960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56232" y="822960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65960" y="8961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Chilakapati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965960" y="109728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Founder · System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965960" y="1280160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965960" y="1280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365760" y="1536192"/>
            <a:ext cx="14173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1536192"/>
            <a:ext cx="36576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664208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4672" y="160934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PHYSICS &amp; APPLICATIONS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856232" y="1536192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856232" y="1536192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965960" y="16093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Cross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965960" y="18105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Scientist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1965960" y="1993392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965960" y="19933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3273552" y="1536192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273552" y="1536192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83280" y="160934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 Bogert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383280" y="18105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Applications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383280" y="1993392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383280" y="19933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3730752" y="199339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>
                <a:solidFill>
                  <a:srgbClr val="5A6273"/>
                </a:solidFill>
                <a:latin typeface="Calibri"/>
                <a:ea typeface="Calibri"/>
                <a:cs typeface="Calibri"/>
              </a:rPr>
              <a:t>joining June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365760" y="2249424"/>
            <a:ext cx="14173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65760" y="2249424"/>
            <a:ext cx="36576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377440"/>
            <a:ext cx="256032" cy="25603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04672" y="232257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1856232" y="2249424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856232" y="2249424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965960" y="232257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Drake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1965960" y="252374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ME Lead · ex-</a:t>
            </a:r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Olympus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1965960" y="2706624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965960" y="270662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3273552" y="2249424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273552" y="2249424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383280" y="232257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Gopinath Kandasamy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3383280" y="252374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ME · ex-Intel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4690872" y="2249424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690872" y="2249424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800600" y="232257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Emani</a:t>
            </a:r>
            <a:endParaRPr lang="en-US" sz="950" dirty="0"/>
          </a:p>
        </p:txBody>
      </p:sp>
      <p:sp>
        <p:nvSpPr>
          <p:cNvPr id="57" name="Text 52"/>
          <p:cNvSpPr/>
          <p:nvPr/>
        </p:nvSpPr>
        <p:spPr>
          <a:xfrm>
            <a:off x="4800600" y="252374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ME · Torqwell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6108192" y="2249424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108192" y="2249424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217920" y="2322576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Kontheti</a:t>
            </a:r>
            <a:endParaRPr lang="en-US" sz="950" dirty="0"/>
          </a:p>
        </p:txBody>
      </p:sp>
      <p:sp>
        <p:nvSpPr>
          <p:cNvPr id="61" name="Text 56"/>
          <p:cNvSpPr/>
          <p:nvPr/>
        </p:nvSpPr>
        <p:spPr>
          <a:xfrm>
            <a:off x="6217920" y="252374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/ Vendor Eng · Torqwell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365760" y="2962656"/>
            <a:ext cx="14173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365760" y="2962656"/>
            <a:ext cx="36576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090672"/>
            <a:ext cx="256032" cy="256032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804672" y="303580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EMBEDDED</a:t>
            </a:r>
            <a:endParaRPr lang="en-US" sz="850" dirty="0"/>
          </a:p>
        </p:txBody>
      </p:sp>
      <p:sp>
        <p:nvSpPr>
          <p:cNvPr id="66" name="Shape 60"/>
          <p:cNvSpPr/>
          <p:nvPr/>
        </p:nvSpPr>
        <p:spPr>
          <a:xfrm>
            <a:off x="1856232" y="2962656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856232" y="2962656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1965960" y="3035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Ramakrishna Madhava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1965960" y="323697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Lead · ex-Intel</a:t>
            </a:r>
            <a:endParaRPr lang="en-US" sz="800" dirty="0"/>
          </a:p>
        </p:txBody>
      </p:sp>
      <p:sp>
        <p:nvSpPr>
          <p:cNvPr id="70" name="Shape 64"/>
          <p:cNvSpPr/>
          <p:nvPr/>
        </p:nvSpPr>
        <p:spPr>
          <a:xfrm>
            <a:off x="1965960" y="3419856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1965960" y="341985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72" name="Shape 66"/>
          <p:cNvSpPr/>
          <p:nvPr/>
        </p:nvSpPr>
        <p:spPr>
          <a:xfrm>
            <a:off x="3273552" y="2962656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3273552" y="2962656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3383280" y="3035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 Uppuluri</a:t>
            </a:r>
            <a:endParaRPr lang="en-US" sz="950" dirty="0"/>
          </a:p>
        </p:txBody>
      </p:sp>
      <p:sp>
        <p:nvSpPr>
          <p:cNvPr id="75" name="Text 69"/>
          <p:cNvSpPr/>
          <p:nvPr/>
        </p:nvSpPr>
        <p:spPr>
          <a:xfrm>
            <a:off x="3383280" y="323697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CAD · iLenSys</a:t>
            </a:r>
            <a:endParaRPr lang="en-US" sz="800" dirty="0"/>
          </a:p>
        </p:txBody>
      </p:sp>
      <p:sp>
        <p:nvSpPr>
          <p:cNvPr id="76" name="Shape 70"/>
          <p:cNvSpPr/>
          <p:nvPr/>
        </p:nvSpPr>
        <p:spPr>
          <a:xfrm>
            <a:off x="4690872" y="2962656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4690872" y="2962656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8" name="Text 72"/>
          <p:cNvSpPr/>
          <p:nvPr/>
        </p:nvSpPr>
        <p:spPr>
          <a:xfrm>
            <a:off x="4800600" y="3035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Abhilash </a:t>
            </a:r>
            <a:r>
              <a:rPr lang="en-US" sz="950" b="1" dirty="0" err="1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Kothapall</a:t>
            </a:r>
            <a:r>
              <a:rPr lang="en-US" sz="950" b="1" dirty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i</a:t>
            </a:r>
            <a:endParaRPr lang="en-US" sz="950" dirty="0"/>
          </a:p>
        </p:txBody>
      </p:sp>
      <p:sp>
        <p:nvSpPr>
          <p:cNvPr id="79" name="Text 73"/>
          <p:cNvSpPr/>
          <p:nvPr/>
        </p:nvSpPr>
        <p:spPr>
          <a:xfrm>
            <a:off x="4800600" y="323697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SW/OS/Drivers · Sys Int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80" name="Shape 74"/>
          <p:cNvSpPr/>
          <p:nvPr/>
        </p:nvSpPr>
        <p:spPr>
          <a:xfrm>
            <a:off x="4800600" y="3419856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4800600" y="341985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82" name="Shape 76"/>
          <p:cNvSpPr/>
          <p:nvPr/>
        </p:nvSpPr>
        <p:spPr>
          <a:xfrm>
            <a:off x="6108192" y="2962656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6108192" y="2962656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4" name="Text 78"/>
          <p:cNvSpPr/>
          <p:nvPr/>
        </p:nvSpPr>
        <p:spPr>
          <a:xfrm>
            <a:off x="6217920" y="3035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Elangovan D</a:t>
            </a:r>
            <a:endParaRPr lang="en-US" sz="950" dirty="0"/>
          </a:p>
        </p:txBody>
      </p:sp>
      <p:sp>
        <p:nvSpPr>
          <p:cNvPr id="85" name="Text 79"/>
          <p:cNvSpPr/>
          <p:nvPr/>
        </p:nvSpPr>
        <p:spPr>
          <a:xfrm>
            <a:off x="6217920" y="323697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XRF SW Engineer</a:t>
            </a:r>
            <a:endParaRPr lang="en-US" sz="800" dirty="0"/>
          </a:p>
        </p:txBody>
      </p:sp>
      <p:sp>
        <p:nvSpPr>
          <p:cNvPr id="86" name="Shape 80"/>
          <p:cNvSpPr/>
          <p:nvPr/>
        </p:nvSpPr>
        <p:spPr>
          <a:xfrm>
            <a:off x="7525512" y="2962656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7525512" y="2962656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8" name="Text 82"/>
          <p:cNvSpPr/>
          <p:nvPr/>
        </p:nvSpPr>
        <p:spPr>
          <a:xfrm>
            <a:off x="7635240" y="303580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Sreekar </a:t>
            </a:r>
            <a:r>
              <a:rPr lang="en-US" sz="950" b="1" dirty="0" err="1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Chilakapati</a:t>
            </a:r>
            <a:endParaRPr lang="en-US" sz="950" dirty="0" err="1"/>
          </a:p>
        </p:txBody>
      </p:sp>
      <p:sp>
        <p:nvSpPr>
          <p:cNvPr id="89" name="Text 83"/>
          <p:cNvSpPr/>
          <p:nvPr/>
        </p:nvSpPr>
        <p:spPr>
          <a:xfrm>
            <a:off x="7635240" y="323697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Engineer</a:t>
            </a:r>
            <a:endParaRPr lang="en-US" sz="800" dirty="0"/>
          </a:p>
        </p:txBody>
      </p:sp>
      <p:sp>
        <p:nvSpPr>
          <p:cNvPr id="90" name="Shape 84"/>
          <p:cNvSpPr/>
          <p:nvPr/>
        </p:nvSpPr>
        <p:spPr>
          <a:xfrm>
            <a:off x="365760" y="3675888"/>
            <a:ext cx="14173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365760" y="3675888"/>
            <a:ext cx="36576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9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803904"/>
            <a:ext cx="256032" cy="256032"/>
          </a:xfrm>
          <a:prstGeom prst="rect">
            <a:avLst/>
          </a:prstGeom>
        </p:spPr>
      </p:pic>
      <p:sp>
        <p:nvSpPr>
          <p:cNvPr id="93" name="Text 86"/>
          <p:cNvSpPr/>
          <p:nvPr/>
        </p:nvSpPr>
        <p:spPr>
          <a:xfrm>
            <a:off x="804672" y="374904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CLOUD/AI · PROGRAM</a:t>
            </a:r>
            <a:endParaRPr lang="en-US" sz="850" dirty="0"/>
          </a:p>
        </p:txBody>
      </p:sp>
      <p:sp>
        <p:nvSpPr>
          <p:cNvPr id="94" name="Shape 87"/>
          <p:cNvSpPr/>
          <p:nvPr/>
        </p:nvSpPr>
        <p:spPr>
          <a:xfrm>
            <a:off x="1856232" y="3675888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1856232" y="3675888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6" name="Text 89"/>
          <p:cNvSpPr/>
          <p:nvPr/>
        </p:nvSpPr>
        <p:spPr>
          <a:xfrm>
            <a:off x="1965960" y="3749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Rajendra Polavarapu</a:t>
            </a:r>
            <a:endParaRPr lang="en-US" sz="950" dirty="0"/>
          </a:p>
        </p:txBody>
      </p:sp>
      <p:sp>
        <p:nvSpPr>
          <p:cNvPr id="97" name="Text 90"/>
          <p:cNvSpPr/>
          <p:nvPr/>
        </p:nvSpPr>
        <p:spPr>
          <a:xfrm>
            <a:off x="1965960" y="395020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</a:t>
            </a:r>
            <a:endParaRPr lang="en-US" sz="800" dirty="0"/>
          </a:p>
        </p:txBody>
      </p:sp>
      <p:sp>
        <p:nvSpPr>
          <p:cNvPr id="98" name="Shape 91"/>
          <p:cNvSpPr/>
          <p:nvPr/>
        </p:nvSpPr>
        <p:spPr>
          <a:xfrm>
            <a:off x="1965960" y="4133088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1965960" y="413308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100" name="Shape 93"/>
          <p:cNvSpPr/>
          <p:nvPr/>
        </p:nvSpPr>
        <p:spPr>
          <a:xfrm>
            <a:off x="3273552" y="3675888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3273552" y="3675888"/>
            <a:ext cx="45720" cy="6583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2" name="Text 95"/>
          <p:cNvSpPr/>
          <p:nvPr/>
        </p:nvSpPr>
        <p:spPr>
          <a:xfrm>
            <a:off x="3383280" y="37490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F2B"/>
                </a:solidFill>
                <a:latin typeface="Calibri"/>
                <a:ea typeface="Calibri"/>
                <a:cs typeface="Calibri"/>
              </a:rPr>
              <a:t>Vasu Rayasam</a:t>
            </a:r>
            <a:endParaRPr lang="en-US" sz="950" dirty="0"/>
          </a:p>
        </p:txBody>
      </p:sp>
      <p:sp>
        <p:nvSpPr>
          <p:cNvPr id="103" name="Text 96"/>
          <p:cNvSpPr/>
          <p:nvPr/>
        </p:nvSpPr>
        <p:spPr>
          <a:xfrm>
            <a:off x="3383280" y="395020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AI Engineer</a:t>
            </a:r>
          </a:p>
        </p:txBody>
      </p:sp>
      <p:sp>
        <p:nvSpPr>
          <p:cNvPr id="104" name="Shape 97"/>
          <p:cNvSpPr/>
          <p:nvPr/>
        </p:nvSpPr>
        <p:spPr>
          <a:xfrm>
            <a:off x="3268926" y="831995"/>
            <a:ext cx="1344168" cy="658368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3268926" y="831995"/>
            <a:ext cx="457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6" name="Text 99"/>
          <p:cNvSpPr/>
          <p:nvPr/>
        </p:nvSpPr>
        <p:spPr>
          <a:xfrm>
            <a:off x="3378654" y="905147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Senthil Kumaran</a:t>
            </a:r>
            <a:endParaRPr lang="en-US" sz="950" dirty="0"/>
          </a:p>
        </p:txBody>
      </p:sp>
      <p:sp>
        <p:nvSpPr>
          <p:cNvPr id="107" name="Text 100"/>
          <p:cNvSpPr/>
          <p:nvPr/>
        </p:nvSpPr>
        <p:spPr>
          <a:xfrm>
            <a:off x="3378654" y="1106315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800" dirty="0"/>
          </a:p>
        </p:txBody>
      </p:sp>
      <p:sp>
        <p:nvSpPr>
          <p:cNvPr id="108" name="Shape 101"/>
          <p:cNvSpPr/>
          <p:nvPr/>
        </p:nvSpPr>
        <p:spPr>
          <a:xfrm>
            <a:off x="3378654" y="1289195"/>
            <a:ext cx="329184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9" name="Text 102"/>
          <p:cNvSpPr/>
          <p:nvPr/>
        </p:nvSpPr>
        <p:spPr>
          <a:xfrm>
            <a:off x="3378654" y="1289195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110" name="Shape 103"/>
          <p:cNvSpPr/>
          <p:nvPr/>
        </p:nvSpPr>
        <p:spPr>
          <a:xfrm>
            <a:off x="365760" y="4462272"/>
            <a:ext cx="2834640" cy="548640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365760" y="4462272"/>
            <a:ext cx="45720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" y="4572000"/>
            <a:ext cx="237744" cy="237744"/>
          </a:xfrm>
          <a:prstGeom prst="rect">
            <a:avLst/>
          </a:prstGeom>
        </p:spPr>
      </p:pic>
      <p:sp>
        <p:nvSpPr>
          <p:cNvPr id="113" name="Text 105"/>
          <p:cNvSpPr/>
          <p:nvPr/>
        </p:nvSpPr>
        <p:spPr>
          <a:xfrm>
            <a:off x="786384" y="45171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MFG PARTNERS </a:t>
            </a:r>
            <a:r>
              <a:rPr lang="en-US" sz="600" b="1" kern="0" spc="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(to firm up after EB2)</a:t>
            </a:r>
            <a:endParaRPr lang="en-US" sz="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Text 106"/>
          <p:cNvSpPr/>
          <p:nvPr/>
        </p:nvSpPr>
        <p:spPr>
          <a:xfrm>
            <a:off x="493776" y="4773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MQS Tech  ·  Amararaja Electronics  ·  VVDN</a:t>
            </a:r>
            <a:endParaRPr lang="en-US" sz="900" dirty="0"/>
          </a:p>
        </p:txBody>
      </p:sp>
      <p:sp>
        <p:nvSpPr>
          <p:cNvPr id="115" name="Shape 107"/>
          <p:cNvSpPr/>
          <p:nvPr/>
        </p:nvSpPr>
        <p:spPr>
          <a:xfrm>
            <a:off x="3337560" y="4462272"/>
            <a:ext cx="5532120" cy="548640"/>
          </a:xfrm>
          <a:prstGeom prst="rect">
            <a:avLst/>
          </a:prstGeom>
          <a:solidFill>
            <a:srgbClr val="F7F8FB"/>
          </a:solidFill>
          <a:ln w="6350">
            <a:solidFill>
              <a:srgbClr val="C7CCD6"/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3337560" y="4462272"/>
            <a:ext cx="45720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5576" y="4572000"/>
            <a:ext cx="237744" cy="237744"/>
          </a:xfrm>
          <a:prstGeom prst="rect">
            <a:avLst/>
          </a:prstGeom>
        </p:spPr>
      </p:pic>
      <p:sp>
        <p:nvSpPr>
          <p:cNvPr id="118" name="Text 109"/>
          <p:cNvSpPr/>
          <p:nvPr/>
        </p:nvSpPr>
        <p:spPr>
          <a:xfrm>
            <a:off x="3758184" y="451713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VENDORS</a:t>
            </a:r>
            <a:endParaRPr lang="en-US" sz="850" dirty="0"/>
          </a:p>
        </p:txBody>
      </p:sp>
      <p:sp>
        <p:nvSpPr>
          <p:cNvPr id="119" name="Text 110"/>
          <p:cNvSpPr/>
          <p:nvPr/>
        </p:nvSpPr>
        <p:spPr>
          <a:xfrm>
            <a:off x="3465576" y="477316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Amptek  ·  Variscite  ·  STM  ·  Faulhaber  ·  </a:t>
            </a:r>
            <a:r>
              <a:rPr lang="en-US" sz="900" dirty="0" err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Kingtech</a:t>
            </a:r>
            <a:r>
              <a:rPr lang="en-US" sz="900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  ·  Anu Mold · VVDN  ·  </a:t>
            </a:r>
            <a:r>
              <a:rPr lang="en-US" sz="900" dirty="0" err="1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iLenSys</a:t>
            </a:r>
            <a:r>
              <a:rPr lang="en-US" sz="900" dirty="0">
                <a:solidFill>
                  <a:srgbClr val="3A4150"/>
                </a:solidFill>
                <a:latin typeface="Calibri"/>
                <a:ea typeface="Calibri"/>
                <a:cs typeface="Calibri"/>
              </a:rPr>
              <a:t>  ·  McMaster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81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2A5E5BD61F0D4E90EBE5FBD8DB5C46" ma:contentTypeVersion="3" ma:contentTypeDescription="Create a new document." ma:contentTypeScope="" ma:versionID="5abf771cb421217b2feeac0985509485">
  <xsd:schema xmlns:xsd="http://www.w3.org/2001/XMLSchema" xmlns:xs="http://www.w3.org/2001/XMLSchema" xmlns:p="http://schemas.microsoft.com/office/2006/metadata/properties" xmlns:ns2="8a2fd8d5-ec77-4fc5-b2a4-83ce75c0939b" targetNamespace="http://schemas.microsoft.com/office/2006/metadata/properties" ma:root="true" ma:fieldsID="39b4982e99d731388780affd53bbd83c" ns2:_="">
    <xsd:import namespace="8a2fd8d5-ec77-4fc5-b2a4-83ce75c093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fd8d5-ec77-4fc5-b2a4-83ce75c093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8142F8-7D49-4F70-AECA-FF20DCBFD183}">
  <ds:schemaRefs>
    <ds:schemaRef ds:uri="8a2fd8d5-ec77-4fc5-b2a4-83ce75c093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4737FAD-AC27-4FE2-B7F4-4323FABC598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6EC53E-E483-46F3-A8F6-2FB9E6B876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astraX Program Timeline</dc:title>
  <dc:subject>PptxGenJS Presentation</dc:subject>
  <dc:creator>PptxGenJS</dc:creator>
  <cp:revision>343</cp:revision>
  <dcterms:created xsi:type="dcterms:W3CDTF">2026-05-02T17:14:15Z</dcterms:created>
  <dcterms:modified xsi:type="dcterms:W3CDTF">2026-05-29T20:41:59Z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0x010100372A5E5BD61F0D4E90EBE5FBD8DB5C46</vt:lpwstr>
  </property>
</Properties>
</file>